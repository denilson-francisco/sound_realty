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7" r:id="rId4"/>
    <p:sldId id="258" r:id="rId5"/>
    <p:sldId id="282" r:id="rId6"/>
    <p:sldId id="266" r:id="rId7"/>
    <p:sldId id="269" r:id="rId8"/>
    <p:sldId id="261" r:id="rId9"/>
    <p:sldId id="285" r:id="rId10"/>
    <p:sldId id="283" r:id="rId11"/>
    <p:sldId id="281" r:id="rId12"/>
    <p:sldId id="270" r:id="rId13"/>
    <p:sldId id="264" r:id="rId14"/>
    <p:sldId id="263" r:id="rId15"/>
    <p:sldId id="280" r:id="rId16"/>
    <p:sldId id="284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37"/>
    <a:srgbClr val="9CCC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47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C10D8-C89F-8BC7-3723-C31BED4A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B31D8-2AFA-D9F0-C8A8-DCBAC5F9E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D94AC-8993-9734-A331-551DC1D47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2B93B-546D-B296-1371-AE23C666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3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64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swarm_deploy.txt: realty_api deployed with published port mapping and initial 1.0.0 image.
- rolling_update.txt: 1.0.0 tasks replaced by 1.1.0 tasks during rolling update.
- scale_up.txt and scale_down.txt: service scaled to 4/4 replicas and returned to 2/2.
- test_api_baseline.txt, test_api_improved.txt, test_api_basic.txt: API prediction tests before/after update and basic endpoint imputation behavior.
- train_baseline.txt and train_improved.txt: baseline and improved model quality metrics used only in the small metrics strip.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541C-C436-8A5F-8E0B-1961ED17C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059A2-8B27-C733-CBB0-DBAF6842B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7854D-6F3E-B783-7F95-67CA76846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6F07F-0195-0444-5176-0D34CDDABA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18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C6BF-C752-10B8-1257-A92C164A3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C97AA-7066-E32A-6D05-68C8A2E62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6177E-A07F-0424-3BF8-819BD18CA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B97CE-65EB-E10F-DEDC-15E7B5AAC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5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0" y="1005840"/>
            <a:ext cx="3474720" cy="4480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49640" y="278892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05672" y="3621024"/>
            <a:ext cx="502920" cy="822960"/>
          </a:xfrm>
          <a:prstGeom prst="rect">
            <a:avLst/>
          </a:prstGeom>
          <a:solidFill>
            <a:srgbClr val="BFDBFE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50408" y="3319650"/>
            <a:ext cx="438912" cy="438912"/>
          </a:xfrm>
          <a:prstGeom prst="rect">
            <a:avLst/>
          </a:prstGeom>
          <a:solidFill>
            <a:srgbClr val="BFDBFE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12764" y="3314700"/>
            <a:ext cx="438912" cy="438912"/>
          </a:xfrm>
          <a:prstGeom prst="rect">
            <a:avLst/>
          </a:prstGeom>
          <a:solidFill>
            <a:srgbClr val="BFDBFE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744200" y="28346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Sound Realty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15544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From proof of concept to production-ready valuation service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9808" y="2542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Client story, technical design, and AWS deployment path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" y="3154680"/>
            <a:ext cx="1417320" cy="3200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" y="32095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3154680"/>
            <a:ext cx="169164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31720" y="320954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design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87952" y="3154680"/>
            <a:ext cx="1481328" cy="320040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87952" y="320954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roadmap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57424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phData presentation for Sound Realty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156" y="6659684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 rot="16200000">
            <a:off x="8824002" y="1161246"/>
            <a:ext cx="1623060" cy="277528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E9AC2B0-AB95-FAD5-1900-8191DD407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779C45-9D3B-AD6A-FB9A-290398019EB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62FBA6-BBD1-A152-17C0-A115E5A53921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E7422B-7F04-E5C6-630B-7C78E3F103B1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468B3AF6-2382-7522-B994-E104B5950E73}"/>
              </a:ext>
            </a:extLst>
          </p:cNvPr>
          <p:cNvSpPr/>
          <p:nvPr/>
        </p:nvSpPr>
        <p:spPr>
          <a:xfrm>
            <a:off x="7315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A37"/>
                </a:solidFill>
              </a:rPr>
              <a:t>Sound Realty</a:t>
            </a:r>
            <a:endParaRPr lang="en-US" sz="1800" dirty="0">
              <a:solidFill>
                <a:srgbClr val="007A37"/>
              </a:solidFill>
            </a:endParaRPr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987225FD-F4E9-A411-9E12-4CC8CCA31F0B}"/>
              </a:ext>
            </a:extLst>
          </p:cNvPr>
          <p:cNvSpPr/>
          <p:nvPr/>
        </p:nvSpPr>
        <p:spPr>
          <a:xfrm>
            <a:off x="659039" y="3154680"/>
            <a:ext cx="4139464" cy="127101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6601EACD-9FD0-100B-85F2-41498D63D162}"/>
              </a:ext>
            </a:extLst>
          </p:cNvPr>
          <p:cNvSpPr/>
          <p:nvPr/>
        </p:nvSpPr>
        <p:spPr>
          <a:xfrm>
            <a:off x="754002" y="3322795"/>
            <a:ext cx="3577401" cy="792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Client value</a:t>
            </a:r>
            <a:endParaRPr lang="en-US" sz="28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2D8348F5-300F-E0AA-7C6A-AA3D008608A2}"/>
              </a:ext>
            </a:extLst>
          </p:cNvPr>
          <p:cNvSpPr/>
          <p:nvPr/>
        </p:nvSpPr>
        <p:spPr>
          <a:xfrm>
            <a:off x="7863840" y="1005840"/>
            <a:ext cx="3474720" cy="44805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04DF6F39-F8D9-A2DD-B6EA-ABE9A6766A41}"/>
              </a:ext>
            </a:extLst>
          </p:cNvPr>
          <p:cNvSpPr/>
          <p:nvPr/>
        </p:nvSpPr>
        <p:spPr>
          <a:xfrm>
            <a:off x="8549640" y="278892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5754595B-DFE8-0724-F2D0-DFE95CE6F03C}"/>
              </a:ext>
            </a:extLst>
          </p:cNvPr>
          <p:cNvSpPr/>
          <p:nvPr/>
        </p:nvSpPr>
        <p:spPr>
          <a:xfrm>
            <a:off x="8805672" y="3621024"/>
            <a:ext cx="502920" cy="8229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34F0F01F-918B-1446-FD9F-C72818EAFE44}"/>
              </a:ext>
            </a:extLst>
          </p:cNvPr>
          <p:cNvSpPr/>
          <p:nvPr/>
        </p:nvSpPr>
        <p:spPr>
          <a:xfrm>
            <a:off x="9450408" y="3319650"/>
            <a:ext cx="438912" cy="4389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7023DA66-35FF-3572-391B-9C5C6C8D297A}"/>
              </a:ext>
            </a:extLst>
          </p:cNvPr>
          <p:cNvSpPr/>
          <p:nvPr/>
        </p:nvSpPr>
        <p:spPr>
          <a:xfrm>
            <a:off x="10012764" y="3314700"/>
            <a:ext cx="438912" cy="4389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B2E04A5B-430D-3624-3C69-707AFF05C907}"/>
              </a:ext>
            </a:extLst>
          </p:cNvPr>
          <p:cNvSpPr/>
          <p:nvPr/>
        </p:nvSpPr>
        <p:spPr>
          <a:xfrm rot="16200000">
            <a:off x="8824002" y="1161246"/>
            <a:ext cx="1623060" cy="2775288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71A3CF-3D39-1C06-29FB-4562E4F0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05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 we solved first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usable valuation service, not a giant platform.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92640" y="594360"/>
            <a:ext cx="1874520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513856"/>
            <a:ext cx="3429000" cy="10909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1513856"/>
            <a:ext cx="3429000" cy="10972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" y="167844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Manual effort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3544" y="1971056"/>
            <a:ext cx="300837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Estimating home value takes time and depends heavily on manual review. That makes it harder to respond consistently and quickly.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1500" y="1513856"/>
            <a:ext cx="3429000" cy="10909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1500" y="1513856"/>
            <a:ext cx="3429000" cy="1097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46092" y="167844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Notebook ≠ product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6092" y="1971056"/>
            <a:ext cx="300837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 model can predict in isolation, but that does not mean a business team can actually use it in a repeatable way.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04048" y="1513856"/>
            <a:ext cx="3429000" cy="10909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04048" y="1513856"/>
            <a:ext cx="342900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68640" y="167844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Need a practical first step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8640" y="1971056"/>
            <a:ext cx="300837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The right first milestone is a proof of concept that already behaves like an application.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05510" y="3624925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Simple first. Useful immediately. Expand only after value is proven.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85176" y="3016324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CF1AA7A-7961-C383-D6B9-CAF657E96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204" y="3872736"/>
            <a:ext cx="3754400" cy="2502933"/>
          </a:xfrm>
          <a:prstGeom prst="rect">
            <a:avLst/>
          </a:prstGeom>
        </p:spPr>
      </p:pic>
      <p:sp>
        <p:nvSpPr>
          <p:cNvPr id="35" name="Text 21">
            <a:extLst>
              <a:ext uri="{FF2B5EF4-FFF2-40B4-BE49-F238E27FC236}">
                <a16:creationId xmlns:a16="http://schemas.microsoft.com/office/drawing/2014/main" id="{EDC63FBA-C6F3-2AFE-1F38-97938D4705FA}"/>
              </a:ext>
            </a:extLst>
          </p:cNvPr>
          <p:cNvSpPr/>
          <p:nvPr/>
        </p:nvSpPr>
        <p:spPr>
          <a:xfrm>
            <a:off x="105156" y="6659684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F5A7429C-AA66-CD42-2072-7864D50A1461}"/>
              </a:ext>
            </a:extLst>
          </p:cNvPr>
          <p:cNvSpPr/>
          <p:nvPr/>
        </p:nvSpPr>
        <p:spPr>
          <a:xfrm>
            <a:off x="443572" y="3572452"/>
            <a:ext cx="4950333" cy="18669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3D4DE2DC-1B7D-9FD9-5534-E7E761516A51}"/>
              </a:ext>
            </a:extLst>
          </p:cNvPr>
          <p:cNvSpPr/>
          <p:nvPr/>
        </p:nvSpPr>
        <p:spPr>
          <a:xfrm>
            <a:off x="674147" y="3255139"/>
            <a:ext cx="2338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Our proposal</a:t>
            </a:r>
            <a:endParaRPr lang="en-US" sz="150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0DE213E2-F028-D1D4-9EDD-F25689A11A40}"/>
              </a:ext>
            </a:extLst>
          </p:cNvPr>
          <p:cNvSpPr/>
          <p:nvPr/>
        </p:nvSpPr>
        <p:spPr>
          <a:xfrm>
            <a:off x="837805" y="4192146"/>
            <a:ext cx="4349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Build a small but complete proof of concept (PoC) that can estimate price, be used by an UI/application, and demonstrate value </a:t>
            </a:r>
            <a:endParaRPr lang="en-US" sz="1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458F33B-9804-E57D-DD24-BC7FD2B91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3"/>
          <p:cNvSpPr/>
          <p:nvPr/>
        </p:nvSpPr>
        <p:spPr>
          <a:xfrm>
            <a:off x="7076073" y="1494810"/>
            <a:ext cx="4965863" cy="1999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workflow for turning property details into a governed estimate.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738360" y="594360"/>
            <a:ext cx="1874520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3836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value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00770" y="2114777"/>
            <a:ext cx="2353447" cy="12739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974302" y="2117376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Full endpoint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05817" y="2464137"/>
            <a:ext cx="1943351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For complete property records and richer workflows.</a:t>
            </a:r>
          </a:p>
          <a:p>
            <a:pPr marL="0" indent="0">
              <a:buNone/>
            </a:pPr>
            <a:endParaRPr lang="en-US" sz="900" dirty="0">
              <a:solidFill>
                <a:srgbClr val="475569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18 property characteristics.</a:t>
            </a:r>
          </a:p>
          <a:p>
            <a:pPr marL="0" indent="0">
              <a:buNone/>
            </a:pPr>
            <a:endParaRPr lang="en-US" sz="900" dirty="0">
              <a:solidFill>
                <a:srgbClr val="475569"/>
              </a:solidFill>
            </a:endParaRP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765623" y="2114778"/>
            <a:ext cx="2161340" cy="12739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168968" y="208002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Basic endpoint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78914" y="2412142"/>
            <a:ext cx="201214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900" dirty="0">
                <a:solidFill>
                  <a:srgbClr val="475569"/>
                </a:solidFill>
              </a:rPr>
              <a:t>For simpler intake when only essential details are available.</a:t>
            </a:r>
          </a:p>
          <a:p>
            <a:endParaRPr lang="en-US" sz="900" dirty="0">
              <a:solidFill>
                <a:srgbClr val="475569"/>
              </a:solidFill>
            </a:endParaRPr>
          </a:p>
          <a:p>
            <a:r>
              <a:rPr lang="en-US" sz="900" dirty="0">
                <a:solidFill>
                  <a:srgbClr val="475569"/>
                </a:solidFill>
              </a:rPr>
              <a:t>8 minimum: Bedrooms, bathrooms, living area, lot size, floors, above-ground area, basement area, zip code</a:t>
            </a:r>
          </a:p>
          <a:p>
            <a:endParaRPr lang="en-US" sz="900" dirty="0">
              <a:solidFill>
                <a:srgbClr val="475569"/>
              </a:solidFill>
            </a:endParaRPr>
          </a:p>
          <a:p>
            <a:endParaRPr lang="en-US" sz="900" dirty="0">
              <a:solidFill>
                <a:srgbClr val="475569"/>
              </a:solidFill>
            </a:endParaRPr>
          </a:p>
          <a:p>
            <a:r>
              <a:rPr lang="en-US" sz="900" dirty="0">
                <a:solidFill>
                  <a:srgbClr val="475569"/>
                </a:solidFill>
              </a:rPr>
              <a:t> </a:t>
            </a:r>
          </a:p>
        </p:txBody>
      </p:sp>
      <p:sp>
        <p:nvSpPr>
          <p:cNvPr id="37" name="Text 35"/>
          <p:cNvSpPr/>
          <p:nvPr/>
        </p:nvSpPr>
        <p:spPr>
          <a:xfrm>
            <a:off x="8783652" y="1520836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Ready to integrate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504835" y="1780769"/>
            <a:ext cx="41083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Can be called by a portal, internal tool, or future client app.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Available in two versions: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46FFD40-5051-E183-4677-E35227DF27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933" b="25960"/>
          <a:stretch>
            <a:fillRect/>
          </a:stretch>
        </p:blipFill>
        <p:spPr>
          <a:xfrm>
            <a:off x="73336" y="1514673"/>
            <a:ext cx="6919769" cy="2265367"/>
          </a:xfrm>
          <a:prstGeom prst="rect">
            <a:avLst/>
          </a:prstGeom>
        </p:spPr>
      </p:pic>
      <p:sp>
        <p:nvSpPr>
          <p:cNvPr id="43" name="Text 21">
            <a:extLst>
              <a:ext uri="{FF2B5EF4-FFF2-40B4-BE49-F238E27FC236}">
                <a16:creationId xmlns:a16="http://schemas.microsoft.com/office/drawing/2014/main" id="{68C5DB68-63AE-C54C-9B28-8F76AF295835}"/>
              </a:ext>
            </a:extLst>
          </p:cNvPr>
          <p:cNvSpPr/>
          <p:nvPr/>
        </p:nvSpPr>
        <p:spPr>
          <a:xfrm>
            <a:off x="105156" y="6659684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720DEB7B-4558-7E39-25FA-F4F96253F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77E6CF-CC4E-C298-0B43-A4C77D3FFC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667" b="17066"/>
          <a:stretch>
            <a:fillRect/>
          </a:stretch>
        </p:blipFill>
        <p:spPr>
          <a:xfrm>
            <a:off x="3850547" y="3899199"/>
            <a:ext cx="5487146" cy="2497263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726D9DB9-590A-B724-4EB4-521CEF364BB5}"/>
              </a:ext>
            </a:extLst>
          </p:cNvPr>
          <p:cNvSpPr/>
          <p:nvPr/>
        </p:nvSpPr>
        <p:spPr>
          <a:xfrm>
            <a:off x="1930903" y="4989786"/>
            <a:ext cx="16983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to Sound Realty</a:t>
            </a:r>
            <a:endParaRPr lang="en-US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2CAD65EA-C3A9-6085-E66E-907E81FA8F02}"/>
              </a:ext>
            </a:extLst>
          </p:cNvPr>
          <p:cNvSpPr/>
          <p:nvPr/>
        </p:nvSpPr>
        <p:spPr>
          <a:xfrm>
            <a:off x="543778" y="4913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PoC can do today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9FA18-71A9-B3DC-D51E-0B9688E0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2A04BE-3636-86A0-35D4-59F0AA7BA631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9BF711-25B5-432A-7BE7-84C5F95705CF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5D3A42-07C5-7D7D-7854-DB7C893A55B3}"/>
              </a:ext>
            </a:extLst>
          </p:cNvPr>
          <p:cNvSpPr/>
          <p:nvPr/>
        </p:nvSpPr>
        <p:spPr>
          <a:xfrm>
            <a:off x="64008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more: improved model before deploying it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FA0ACC-8C7F-D71D-7B26-8856F29954DA}"/>
              </a:ext>
            </a:extLst>
          </p:cNvPr>
          <p:cNvSpPr/>
          <p:nvPr/>
        </p:nvSpPr>
        <p:spPr>
          <a:xfrm>
            <a:off x="610102" y="96985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already made it better, and this is only the beginning.</a:t>
            </a:r>
            <a:endParaRPr lang="en-US" sz="10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64BDA4-6175-E1F6-2449-B72DBD03AE69}"/>
              </a:ext>
            </a:extLst>
          </p:cNvPr>
          <p:cNvSpPr/>
          <p:nvPr/>
        </p:nvSpPr>
        <p:spPr>
          <a:xfrm>
            <a:off x="9555480" y="594360"/>
            <a:ext cx="1874520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83A0D5-4A62-CF23-07A1-BBC013DF2A38}"/>
              </a:ext>
            </a:extLst>
          </p:cNvPr>
          <p:cNvSpPr/>
          <p:nvPr/>
        </p:nvSpPr>
        <p:spPr>
          <a:xfrm>
            <a:off x="955548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value</a:t>
            </a:r>
            <a:endParaRPr lang="en-US" sz="10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CD13535-BDE5-8F67-95C5-B87F62AAB7AF}"/>
              </a:ext>
            </a:extLst>
          </p:cNvPr>
          <p:cNvSpPr/>
          <p:nvPr/>
        </p:nvSpPr>
        <p:spPr>
          <a:xfrm>
            <a:off x="6668664" y="6071941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A83D64E-9D63-633E-AFDE-089450B798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538" b="27345"/>
          <a:stretch>
            <a:fillRect/>
          </a:stretch>
        </p:blipFill>
        <p:spPr>
          <a:xfrm>
            <a:off x="6410519" y="1350211"/>
            <a:ext cx="5070787" cy="1457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23C26A-6E52-54D3-2B02-29F1774D9089}"/>
              </a:ext>
            </a:extLst>
          </p:cNvPr>
          <p:cNvSpPr txBox="1"/>
          <p:nvPr/>
        </p:nvSpPr>
        <p:spPr>
          <a:xfrm>
            <a:off x="6891740" y="2791738"/>
            <a:ext cx="12604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6923D-3A38-CF20-099D-8FEEA9E6EE03}"/>
              </a:ext>
            </a:extLst>
          </p:cNvPr>
          <p:cNvSpPr txBox="1"/>
          <p:nvPr/>
        </p:nvSpPr>
        <p:spPr>
          <a:xfrm>
            <a:off x="8445965" y="2774702"/>
            <a:ext cx="12604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93C0C-BD17-2A80-E8B3-04F8F9CE7C0C}"/>
              </a:ext>
            </a:extLst>
          </p:cNvPr>
          <p:cNvSpPr txBox="1"/>
          <p:nvPr/>
        </p:nvSpPr>
        <p:spPr>
          <a:xfrm>
            <a:off x="10149881" y="2772913"/>
            <a:ext cx="12604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900" dirty="0"/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976F0F52-2923-16CE-C3F8-8321DDE972DD}"/>
              </a:ext>
            </a:extLst>
          </p:cNvPr>
          <p:cNvSpPr/>
          <p:nvPr/>
        </p:nvSpPr>
        <p:spPr>
          <a:xfrm>
            <a:off x="308197" y="1278283"/>
            <a:ext cx="5394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6" name="Shape 5">
            <a:extLst>
              <a:ext uri="{FF2B5EF4-FFF2-40B4-BE49-F238E27FC236}">
                <a16:creationId xmlns:a16="http://schemas.microsoft.com/office/drawing/2014/main" id="{8D8A078E-ED01-6ADC-1189-CDE525E8C73F}"/>
              </a:ext>
            </a:extLst>
          </p:cNvPr>
          <p:cNvSpPr/>
          <p:nvPr/>
        </p:nvSpPr>
        <p:spPr>
          <a:xfrm>
            <a:off x="582517" y="1964083"/>
            <a:ext cx="48463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1BBD3567-A7CD-A531-6A84-F793A9C31980}"/>
              </a:ext>
            </a:extLst>
          </p:cNvPr>
          <p:cNvSpPr/>
          <p:nvPr/>
        </p:nvSpPr>
        <p:spPr>
          <a:xfrm>
            <a:off x="765397" y="2037235"/>
            <a:ext cx="2035454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test R²</a:t>
            </a:r>
            <a:endParaRPr lang="en-US" sz="1200" dirty="0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896F05CF-D3B6-871E-7847-EC8B890C3452}"/>
              </a:ext>
            </a:extLst>
          </p:cNvPr>
          <p:cNvSpPr/>
          <p:nvPr/>
        </p:nvSpPr>
        <p:spPr>
          <a:xfrm>
            <a:off x="2617971" y="2037235"/>
            <a:ext cx="1647749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0.7398 → 0.8831</a:t>
            </a:r>
            <a:endParaRPr lang="en-US" sz="1400" dirty="0"/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3942F166-D9D1-EA53-AE28-B7384ED4174A}"/>
              </a:ext>
            </a:extLst>
          </p:cNvPr>
          <p:cNvSpPr/>
          <p:nvPr/>
        </p:nvSpPr>
        <p:spPr>
          <a:xfrm>
            <a:off x="4362647" y="2046379"/>
            <a:ext cx="969264" cy="3383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889BE9B5-74A0-4D59-A957-AEFD9DB5F9E1}"/>
              </a:ext>
            </a:extLst>
          </p:cNvPr>
          <p:cNvSpPr/>
          <p:nvPr/>
        </p:nvSpPr>
        <p:spPr>
          <a:xfrm>
            <a:off x="4362647" y="2064667"/>
            <a:ext cx="969264" cy="3383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+0.143</a:t>
            </a:r>
            <a:endParaRPr lang="en-US" sz="1200" dirty="0"/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BAEC9276-E657-E8D9-1CC1-9E85CE738494}"/>
              </a:ext>
            </a:extLst>
          </p:cNvPr>
          <p:cNvSpPr/>
          <p:nvPr/>
        </p:nvSpPr>
        <p:spPr>
          <a:xfrm>
            <a:off x="582517" y="2540155"/>
            <a:ext cx="48463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3AB67891-AD05-7C3B-6B57-460503E529B5}"/>
              </a:ext>
            </a:extLst>
          </p:cNvPr>
          <p:cNvSpPr/>
          <p:nvPr/>
        </p:nvSpPr>
        <p:spPr>
          <a:xfrm>
            <a:off x="765397" y="2613307"/>
            <a:ext cx="2035454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MAE</a:t>
            </a:r>
            <a:endParaRPr lang="en-US" sz="1200" dirty="0"/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A2E455CB-2F47-5D63-05D1-61D0F11F36E9}"/>
              </a:ext>
            </a:extLst>
          </p:cNvPr>
          <p:cNvSpPr/>
          <p:nvPr/>
        </p:nvSpPr>
        <p:spPr>
          <a:xfrm>
            <a:off x="2617971" y="2613307"/>
            <a:ext cx="1647749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$97,436 → $68,975</a:t>
            </a:r>
            <a:endParaRPr lang="en-US" sz="1400" dirty="0"/>
          </a:p>
        </p:txBody>
      </p:sp>
      <p:sp>
        <p:nvSpPr>
          <p:cNvPr id="64" name="Shape 13">
            <a:extLst>
              <a:ext uri="{FF2B5EF4-FFF2-40B4-BE49-F238E27FC236}">
                <a16:creationId xmlns:a16="http://schemas.microsoft.com/office/drawing/2014/main" id="{01E973D9-12A4-80F2-24FC-633FE4A7EFBB}"/>
              </a:ext>
            </a:extLst>
          </p:cNvPr>
          <p:cNvSpPr/>
          <p:nvPr/>
        </p:nvSpPr>
        <p:spPr>
          <a:xfrm>
            <a:off x="4362647" y="2622451"/>
            <a:ext cx="969264" cy="3383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6E8B986E-C23A-1926-6DB5-DB993BA12A87}"/>
              </a:ext>
            </a:extLst>
          </p:cNvPr>
          <p:cNvSpPr/>
          <p:nvPr/>
        </p:nvSpPr>
        <p:spPr>
          <a:xfrm>
            <a:off x="4362647" y="2640739"/>
            <a:ext cx="969264" cy="3383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−29%</a:t>
            </a:r>
            <a:endParaRPr lang="en-US" sz="1200" dirty="0"/>
          </a:p>
        </p:txBody>
      </p:sp>
      <p:sp>
        <p:nvSpPr>
          <p:cNvPr id="66" name="Shape 15">
            <a:extLst>
              <a:ext uri="{FF2B5EF4-FFF2-40B4-BE49-F238E27FC236}">
                <a16:creationId xmlns:a16="http://schemas.microsoft.com/office/drawing/2014/main" id="{ADF146A4-BBBE-ADDC-17FD-A2D150AA585C}"/>
              </a:ext>
            </a:extLst>
          </p:cNvPr>
          <p:cNvSpPr/>
          <p:nvPr/>
        </p:nvSpPr>
        <p:spPr>
          <a:xfrm>
            <a:off x="582517" y="3116227"/>
            <a:ext cx="48463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25716CEF-20EF-FF71-E32F-84E0288E03F9}"/>
              </a:ext>
            </a:extLst>
          </p:cNvPr>
          <p:cNvSpPr/>
          <p:nvPr/>
        </p:nvSpPr>
        <p:spPr>
          <a:xfrm>
            <a:off x="765397" y="3189379"/>
            <a:ext cx="2035454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</a:t>
            </a:r>
            <a:endParaRPr lang="en-US" sz="1200" dirty="0"/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B976B904-6E9F-9929-C2DF-C4E4790ABF6C}"/>
              </a:ext>
            </a:extLst>
          </p:cNvPr>
          <p:cNvSpPr/>
          <p:nvPr/>
        </p:nvSpPr>
        <p:spPr>
          <a:xfrm>
            <a:off x="2348917" y="3189379"/>
            <a:ext cx="1916803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$192,439 → $128,983</a:t>
            </a:r>
            <a:endParaRPr lang="en-US" sz="1400" dirty="0"/>
          </a:p>
        </p:txBody>
      </p:sp>
      <p:sp>
        <p:nvSpPr>
          <p:cNvPr id="69" name="Shape 18">
            <a:extLst>
              <a:ext uri="{FF2B5EF4-FFF2-40B4-BE49-F238E27FC236}">
                <a16:creationId xmlns:a16="http://schemas.microsoft.com/office/drawing/2014/main" id="{9D62DF4C-3D97-6A09-B093-A9E8FDA531D2}"/>
              </a:ext>
            </a:extLst>
          </p:cNvPr>
          <p:cNvSpPr/>
          <p:nvPr/>
        </p:nvSpPr>
        <p:spPr>
          <a:xfrm>
            <a:off x="4362647" y="3198523"/>
            <a:ext cx="969264" cy="3383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DFF789D6-528E-89D5-AB7F-D006F3C541A6}"/>
              </a:ext>
            </a:extLst>
          </p:cNvPr>
          <p:cNvSpPr/>
          <p:nvPr/>
        </p:nvSpPr>
        <p:spPr>
          <a:xfrm>
            <a:off x="4362647" y="3216811"/>
            <a:ext cx="969264" cy="3383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−33%</a:t>
            </a:r>
            <a:endParaRPr lang="en-US" sz="120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4938DA34-3019-BE4F-8071-94515F7220AF}"/>
              </a:ext>
            </a:extLst>
          </p:cNvPr>
          <p:cNvSpPr/>
          <p:nvPr/>
        </p:nvSpPr>
        <p:spPr>
          <a:xfrm>
            <a:off x="559912" y="3759739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Deployed-model EVALUATION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newer labeled set</a:t>
            </a:r>
            <a:endParaRPr lang="en-US" sz="1200" dirty="0"/>
          </a:p>
        </p:txBody>
      </p:sp>
      <p:sp>
        <p:nvSpPr>
          <p:cNvPr id="72" name="Shape 21">
            <a:extLst>
              <a:ext uri="{FF2B5EF4-FFF2-40B4-BE49-F238E27FC236}">
                <a16:creationId xmlns:a16="http://schemas.microsoft.com/office/drawing/2014/main" id="{5EEF3DB9-403F-79D7-B552-D1C409B982A0}"/>
              </a:ext>
            </a:extLst>
          </p:cNvPr>
          <p:cNvSpPr/>
          <p:nvPr/>
        </p:nvSpPr>
        <p:spPr>
          <a:xfrm>
            <a:off x="582517" y="4112923"/>
            <a:ext cx="48463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299333FF-68F3-E28E-8450-DCB8697A756F}"/>
              </a:ext>
            </a:extLst>
          </p:cNvPr>
          <p:cNvSpPr/>
          <p:nvPr/>
        </p:nvSpPr>
        <p:spPr>
          <a:xfrm>
            <a:off x="765397" y="4186075"/>
            <a:ext cx="2035454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R²</a:t>
            </a:r>
            <a:endParaRPr lang="en-US" sz="1200" dirty="0"/>
          </a:p>
        </p:txBody>
      </p:sp>
      <p:sp>
        <p:nvSpPr>
          <p:cNvPr id="74" name="Text 23">
            <a:extLst>
              <a:ext uri="{FF2B5EF4-FFF2-40B4-BE49-F238E27FC236}">
                <a16:creationId xmlns:a16="http://schemas.microsoft.com/office/drawing/2014/main" id="{82C8C563-538C-FCAB-0499-F0D1DE56E9EE}"/>
              </a:ext>
            </a:extLst>
          </p:cNvPr>
          <p:cNvSpPr/>
          <p:nvPr/>
        </p:nvSpPr>
        <p:spPr>
          <a:xfrm>
            <a:off x="2617971" y="4186075"/>
            <a:ext cx="1647749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0.7367 → 0.8396</a:t>
            </a:r>
            <a:endParaRPr lang="en-US" sz="1400" dirty="0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C3260787-5581-DAAD-9C5C-3BA869CA340D}"/>
              </a:ext>
            </a:extLst>
          </p:cNvPr>
          <p:cNvSpPr/>
          <p:nvPr/>
        </p:nvSpPr>
        <p:spPr>
          <a:xfrm>
            <a:off x="4362647" y="4195219"/>
            <a:ext cx="969264" cy="3383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30340AB9-F4B8-DB01-48AC-017E4757BB18}"/>
              </a:ext>
            </a:extLst>
          </p:cNvPr>
          <p:cNvSpPr/>
          <p:nvPr/>
        </p:nvSpPr>
        <p:spPr>
          <a:xfrm>
            <a:off x="4362647" y="4213507"/>
            <a:ext cx="969264" cy="3383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+0.103</a:t>
            </a:r>
            <a:endParaRPr lang="en-US" sz="1200" dirty="0"/>
          </a:p>
        </p:txBody>
      </p:sp>
      <p:sp>
        <p:nvSpPr>
          <p:cNvPr id="77" name="Shape 26">
            <a:extLst>
              <a:ext uri="{FF2B5EF4-FFF2-40B4-BE49-F238E27FC236}">
                <a16:creationId xmlns:a16="http://schemas.microsoft.com/office/drawing/2014/main" id="{ADE54AEF-FEFA-BF61-C9CF-399138909A84}"/>
              </a:ext>
            </a:extLst>
          </p:cNvPr>
          <p:cNvSpPr/>
          <p:nvPr/>
        </p:nvSpPr>
        <p:spPr>
          <a:xfrm>
            <a:off x="582517" y="4688995"/>
            <a:ext cx="48463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8" name="Text 27">
            <a:extLst>
              <a:ext uri="{FF2B5EF4-FFF2-40B4-BE49-F238E27FC236}">
                <a16:creationId xmlns:a16="http://schemas.microsoft.com/office/drawing/2014/main" id="{7C4A3EE5-C678-7553-2048-551A2528BA69}"/>
              </a:ext>
            </a:extLst>
          </p:cNvPr>
          <p:cNvSpPr/>
          <p:nvPr/>
        </p:nvSpPr>
        <p:spPr>
          <a:xfrm>
            <a:off x="765397" y="4762147"/>
            <a:ext cx="2035454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MAE</a:t>
            </a:r>
            <a:endParaRPr lang="en-US" sz="1200" dirty="0"/>
          </a:p>
        </p:txBody>
      </p:sp>
      <p:sp>
        <p:nvSpPr>
          <p:cNvPr id="79" name="Text 28">
            <a:extLst>
              <a:ext uri="{FF2B5EF4-FFF2-40B4-BE49-F238E27FC236}">
                <a16:creationId xmlns:a16="http://schemas.microsoft.com/office/drawing/2014/main" id="{D6187147-B27C-851E-52E1-996522AB5CFF}"/>
              </a:ext>
            </a:extLst>
          </p:cNvPr>
          <p:cNvSpPr/>
          <p:nvPr/>
        </p:nvSpPr>
        <p:spPr>
          <a:xfrm>
            <a:off x="2348917" y="4762147"/>
            <a:ext cx="1916803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$107,316 → $82,668</a:t>
            </a:r>
            <a:endParaRPr lang="en-US" sz="1400" dirty="0"/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A061D106-B266-D9E7-3B52-EC8C931F110F}"/>
              </a:ext>
            </a:extLst>
          </p:cNvPr>
          <p:cNvSpPr/>
          <p:nvPr/>
        </p:nvSpPr>
        <p:spPr>
          <a:xfrm>
            <a:off x="4362647" y="4771291"/>
            <a:ext cx="969264" cy="3383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1" name="Text 30">
            <a:extLst>
              <a:ext uri="{FF2B5EF4-FFF2-40B4-BE49-F238E27FC236}">
                <a16:creationId xmlns:a16="http://schemas.microsoft.com/office/drawing/2014/main" id="{3E301856-259B-61E5-1E1C-8358BC5FB2C8}"/>
              </a:ext>
            </a:extLst>
          </p:cNvPr>
          <p:cNvSpPr/>
          <p:nvPr/>
        </p:nvSpPr>
        <p:spPr>
          <a:xfrm>
            <a:off x="4362647" y="4789579"/>
            <a:ext cx="969264" cy="3383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−23%</a:t>
            </a:r>
            <a:endParaRPr lang="en-US" sz="1200" dirty="0"/>
          </a:p>
        </p:txBody>
      </p:sp>
      <p:sp>
        <p:nvSpPr>
          <p:cNvPr id="82" name="Shape 31">
            <a:extLst>
              <a:ext uri="{FF2B5EF4-FFF2-40B4-BE49-F238E27FC236}">
                <a16:creationId xmlns:a16="http://schemas.microsoft.com/office/drawing/2014/main" id="{7C00D39A-9C27-878F-3991-8152C05E82BC}"/>
              </a:ext>
            </a:extLst>
          </p:cNvPr>
          <p:cNvSpPr/>
          <p:nvPr/>
        </p:nvSpPr>
        <p:spPr>
          <a:xfrm>
            <a:off x="582517" y="5265067"/>
            <a:ext cx="48463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831A0E93-42B3-AD24-B108-A1C78C187F1C}"/>
              </a:ext>
            </a:extLst>
          </p:cNvPr>
          <p:cNvSpPr/>
          <p:nvPr/>
        </p:nvSpPr>
        <p:spPr>
          <a:xfrm>
            <a:off x="765397" y="5338219"/>
            <a:ext cx="2035454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RMSE</a:t>
            </a:r>
            <a:endParaRPr lang="en-US" sz="1200" dirty="0"/>
          </a:p>
        </p:txBody>
      </p:sp>
      <p:sp>
        <p:nvSpPr>
          <p:cNvPr id="84" name="Text 33">
            <a:extLst>
              <a:ext uri="{FF2B5EF4-FFF2-40B4-BE49-F238E27FC236}">
                <a16:creationId xmlns:a16="http://schemas.microsoft.com/office/drawing/2014/main" id="{6CCD7E3D-7CE3-0083-CA46-B203327AA3D0}"/>
              </a:ext>
            </a:extLst>
          </p:cNvPr>
          <p:cNvSpPr/>
          <p:nvPr/>
        </p:nvSpPr>
        <p:spPr>
          <a:xfrm>
            <a:off x="2466507" y="5338219"/>
            <a:ext cx="1799213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$188,795 → $147,340</a:t>
            </a:r>
            <a:endParaRPr lang="en-US" sz="1400" dirty="0"/>
          </a:p>
        </p:txBody>
      </p:sp>
      <p:sp>
        <p:nvSpPr>
          <p:cNvPr id="85" name="Shape 34">
            <a:extLst>
              <a:ext uri="{FF2B5EF4-FFF2-40B4-BE49-F238E27FC236}">
                <a16:creationId xmlns:a16="http://schemas.microsoft.com/office/drawing/2014/main" id="{7DD2B919-F95D-411F-201E-42E048403A31}"/>
              </a:ext>
            </a:extLst>
          </p:cNvPr>
          <p:cNvSpPr/>
          <p:nvPr/>
        </p:nvSpPr>
        <p:spPr>
          <a:xfrm>
            <a:off x="4362647" y="5347363"/>
            <a:ext cx="969264" cy="3383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6" name="Text 35">
            <a:extLst>
              <a:ext uri="{FF2B5EF4-FFF2-40B4-BE49-F238E27FC236}">
                <a16:creationId xmlns:a16="http://schemas.microsoft.com/office/drawing/2014/main" id="{2A4F2E45-034B-6E41-B38D-4F55DB7ED3AE}"/>
              </a:ext>
            </a:extLst>
          </p:cNvPr>
          <p:cNvSpPr/>
          <p:nvPr/>
        </p:nvSpPr>
        <p:spPr>
          <a:xfrm>
            <a:off x="4362647" y="5365651"/>
            <a:ext cx="969264" cy="3383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−22%</a:t>
            </a:r>
            <a:endParaRPr lang="en-US" sz="1200" dirty="0"/>
          </a:p>
        </p:txBody>
      </p:sp>
      <p:sp>
        <p:nvSpPr>
          <p:cNvPr id="87" name="Text 36">
            <a:extLst>
              <a:ext uri="{FF2B5EF4-FFF2-40B4-BE49-F238E27FC236}">
                <a16:creationId xmlns:a16="http://schemas.microsoft.com/office/drawing/2014/main" id="{5CC56237-6AC3-7071-0F9F-423337097841}"/>
              </a:ext>
            </a:extLst>
          </p:cNvPr>
          <p:cNvSpPr/>
          <p:nvPr/>
        </p:nvSpPr>
        <p:spPr>
          <a:xfrm>
            <a:off x="926466" y="5955607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versions shown in API responses (traceable release)</a:t>
            </a:r>
            <a:endParaRPr lang="en-US" sz="1200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C0A5293E-7DCE-4825-D158-C082695258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30" t="5571" r="14355" b="5334"/>
          <a:stretch>
            <a:fillRect/>
          </a:stretch>
        </p:blipFill>
        <p:spPr>
          <a:xfrm>
            <a:off x="7471854" y="4018488"/>
            <a:ext cx="3119421" cy="252720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A6C151AD-06AC-9CBA-FE11-C927CB9BEA83}"/>
              </a:ext>
            </a:extLst>
          </p:cNvPr>
          <p:cNvSpPr txBox="1"/>
          <p:nvPr/>
        </p:nvSpPr>
        <p:spPr>
          <a:xfrm>
            <a:off x="7571390" y="3495272"/>
            <a:ext cx="32884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Arial" pitchFamily="34" charset="0"/>
                <a:cs typeface="Arial" pitchFamily="34" charset="-120"/>
              </a:rPr>
              <a:t>The POC is not only a deployable solution — it is a foundation for continuous improvement.</a:t>
            </a: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0785A22F-B188-8F12-7AD3-9865EC3A8D0C}"/>
              </a:ext>
            </a:extLst>
          </p:cNvPr>
          <p:cNvSpPr/>
          <p:nvPr/>
        </p:nvSpPr>
        <p:spPr>
          <a:xfrm>
            <a:off x="7288904" y="3917769"/>
            <a:ext cx="3853457" cy="11629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2FEF23C-A2A8-F834-40AD-95E26278FE44}"/>
              </a:ext>
            </a:extLst>
          </p:cNvPr>
          <p:cNvSpPr txBox="1"/>
          <p:nvPr/>
        </p:nvSpPr>
        <p:spPr>
          <a:xfrm>
            <a:off x="2693541" y="1623206"/>
            <a:ext cx="830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Baseline </a:t>
            </a:r>
          </a:p>
          <a:p>
            <a:pPr algn="ctr"/>
            <a:r>
              <a:rPr lang="en-US" sz="9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9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D732FF1-A9E0-B1E6-BED9-F7DBC7E8F141}"/>
              </a:ext>
            </a:extLst>
          </p:cNvPr>
          <p:cNvSpPr txBox="1"/>
          <p:nvPr/>
        </p:nvSpPr>
        <p:spPr>
          <a:xfrm>
            <a:off x="3108724" y="1634987"/>
            <a:ext cx="1638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Imp. Random</a:t>
            </a:r>
          </a:p>
          <a:p>
            <a:pPr algn="ctr"/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Forest</a:t>
            </a:r>
            <a:endParaRPr lang="en-US" sz="900" b="1" dirty="0"/>
          </a:p>
        </p:txBody>
      </p:sp>
      <p:sp>
        <p:nvSpPr>
          <p:cNvPr id="96" name="Text 20">
            <a:extLst>
              <a:ext uri="{FF2B5EF4-FFF2-40B4-BE49-F238E27FC236}">
                <a16:creationId xmlns:a16="http://schemas.microsoft.com/office/drawing/2014/main" id="{E83A08B1-5EA9-A746-B106-1654153E13BB}"/>
              </a:ext>
            </a:extLst>
          </p:cNvPr>
          <p:cNvSpPr/>
          <p:nvPr/>
        </p:nvSpPr>
        <p:spPr>
          <a:xfrm>
            <a:off x="610102" y="1622179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Trained-model TESTING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unseen data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2093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4">
            <a:extLst>
              <a:ext uri="{FF2B5EF4-FFF2-40B4-BE49-F238E27FC236}">
                <a16:creationId xmlns:a16="http://schemas.microsoft.com/office/drawing/2014/main" id="{15F56D39-D0C2-EA64-15C9-C0EBE4C388E4}"/>
              </a:ext>
            </a:extLst>
          </p:cNvPr>
          <p:cNvSpPr/>
          <p:nvPr/>
        </p:nvSpPr>
        <p:spPr>
          <a:xfrm>
            <a:off x="3351400" y="3690321"/>
            <a:ext cx="5301843" cy="5028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52EBF4E2-378F-C418-D889-ACB5DB58E6FF}"/>
              </a:ext>
            </a:extLst>
          </p:cNvPr>
          <p:cNvSpPr/>
          <p:nvPr/>
        </p:nvSpPr>
        <p:spPr>
          <a:xfrm>
            <a:off x="3351400" y="3153343"/>
            <a:ext cx="5301843" cy="5028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00E4F771-5D0E-5023-5123-4493B09BB31D}"/>
              </a:ext>
            </a:extLst>
          </p:cNvPr>
          <p:cNvSpPr/>
          <p:nvPr/>
        </p:nvSpPr>
        <p:spPr>
          <a:xfrm>
            <a:off x="3351400" y="2619136"/>
            <a:ext cx="5301843" cy="5028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74D65CD3-3F7E-A1D7-BEAE-37DA2282EC87}"/>
              </a:ext>
            </a:extLst>
          </p:cNvPr>
          <p:cNvSpPr/>
          <p:nvPr/>
        </p:nvSpPr>
        <p:spPr>
          <a:xfrm>
            <a:off x="3368178" y="2068193"/>
            <a:ext cx="5301843" cy="5028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price prediction: where this can go next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API foundation is approved, new endpoints become natural extensions.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784080" y="594360"/>
            <a:ext cx="1874520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Expansion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92244" y="5023347"/>
            <a:ext cx="2606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92244" y="5023347"/>
            <a:ext cx="2606040" cy="1097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56836" y="5187939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Explanation endpoint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75124" y="5496921"/>
            <a:ext cx="218541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Summarize the main factors that influenced a valuation.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05047" y="5018786"/>
            <a:ext cx="2606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19371" y="5018786"/>
            <a:ext cx="260604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83963" y="518337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Scenario simulation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83963" y="5475986"/>
            <a:ext cx="218541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Explore “what if” cases such as renovations or property changes.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18339" y="5022954"/>
            <a:ext cx="2606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818339" y="5022954"/>
            <a:ext cx="2577392" cy="107372"/>
          </a:xfrm>
          <a:prstGeom prst="roundRect">
            <a:avLst/>
          </a:prstGeom>
          <a:solidFill>
            <a:srgbClr val="007A37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47501" y="5230845"/>
            <a:ext cx="2408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Housing Segmenting Model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47501" y="5627582"/>
            <a:ext cx="240890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Instead of one model covers all, we build different model for difference house sizes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3736" y="6546586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64F9E2-C000-EF3A-5FE9-0A555490C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359" y="6356994"/>
            <a:ext cx="1465138" cy="586055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5F5B8B82-2F1B-9445-B353-88B636601167}"/>
              </a:ext>
            </a:extLst>
          </p:cNvPr>
          <p:cNvSpPr/>
          <p:nvPr/>
        </p:nvSpPr>
        <p:spPr>
          <a:xfrm>
            <a:off x="3450811" y="1735030"/>
            <a:ext cx="5235989" cy="304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 after launch remains stable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R² above 0.75–0.80 and MAE below $90,000–$110,000</a:t>
            </a:r>
          </a:p>
          <a:p>
            <a:pPr lvl="1"/>
            <a:endParaRPr lang="en-US" sz="11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API availability during pilot use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95%–99% of prediction requests return a successful response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API response time for end users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average prediction latency below 300–500 milliseconds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Input quality remains within expected bounds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no more than 10% of requests trigger a data-quality warning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50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4E93D7-172E-EDA5-FC0A-E2302BC61B8E}"/>
              </a:ext>
            </a:extLst>
          </p:cNvPr>
          <p:cNvSpPr txBox="1"/>
          <p:nvPr/>
        </p:nvSpPr>
        <p:spPr>
          <a:xfrm>
            <a:off x="3284290" y="1650380"/>
            <a:ext cx="5368953" cy="3693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Succes Criteria after PoC launch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EBBF98-EDDB-215F-C058-C0BD5E163830}"/>
              </a:ext>
            </a:extLst>
          </p:cNvPr>
          <p:cNvSpPr txBox="1"/>
          <p:nvPr/>
        </p:nvSpPr>
        <p:spPr>
          <a:xfrm>
            <a:off x="295683" y="4984234"/>
            <a:ext cx="1484755" cy="1243049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Some next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possibilities</a:t>
            </a:r>
          </a:p>
        </p:txBody>
      </p:sp>
    </p:spTree>
    <p:extLst>
      <p:ext uri="{BB962C8B-B14F-4D97-AF65-F5344CB8AC3E}">
        <p14:creationId xmlns:p14="http://schemas.microsoft.com/office/powerpoint/2010/main" val="41515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79104-5C89-1342-685F-5EC628A7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47B640-F0F3-D22A-26DC-26A84853E33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10D102-48B3-8A96-96CA-F5B46BA17663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C88CEE-F6A9-693D-0269-D23BE4DEC766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E56299B1-D3A4-83C1-D974-DFDA68A94879}"/>
              </a:ext>
            </a:extLst>
          </p:cNvPr>
          <p:cNvSpPr/>
          <p:nvPr/>
        </p:nvSpPr>
        <p:spPr>
          <a:xfrm>
            <a:off x="7315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Sound Realty</a:t>
            </a:r>
            <a:endParaRPr lang="en-US" sz="18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4E73A598-F9ED-3513-3F01-1417F604C168}"/>
              </a:ext>
            </a:extLst>
          </p:cNvPr>
          <p:cNvSpPr/>
          <p:nvPr/>
        </p:nvSpPr>
        <p:spPr>
          <a:xfrm>
            <a:off x="7863840" y="1005840"/>
            <a:ext cx="3474720" cy="4480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0FEE420-D5A9-9B48-0851-B76226C5772B}"/>
              </a:ext>
            </a:extLst>
          </p:cNvPr>
          <p:cNvSpPr/>
          <p:nvPr/>
        </p:nvSpPr>
        <p:spPr>
          <a:xfrm>
            <a:off x="8549640" y="278892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B4A6BC7F-D169-B446-95CD-1FF21117C66C}"/>
              </a:ext>
            </a:extLst>
          </p:cNvPr>
          <p:cNvSpPr/>
          <p:nvPr/>
        </p:nvSpPr>
        <p:spPr>
          <a:xfrm>
            <a:off x="8805672" y="3621024"/>
            <a:ext cx="502920" cy="822960"/>
          </a:xfrm>
          <a:prstGeom prst="rect">
            <a:avLst/>
          </a:prstGeom>
          <a:solidFill>
            <a:srgbClr val="BFDBFE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03845CBF-A505-CFE4-B020-34322ABAA256}"/>
              </a:ext>
            </a:extLst>
          </p:cNvPr>
          <p:cNvSpPr/>
          <p:nvPr/>
        </p:nvSpPr>
        <p:spPr>
          <a:xfrm>
            <a:off x="9450408" y="3319650"/>
            <a:ext cx="438912" cy="438912"/>
          </a:xfrm>
          <a:prstGeom prst="rect">
            <a:avLst/>
          </a:prstGeom>
          <a:solidFill>
            <a:srgbClr val="BFDBFE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0C10A137-2A3A-9A1C-444E-23DB3A0BFA46}"/>
              </a:ext>
            </a:extLst>
          </p:cNvPr>
          <p:cNvSpPr/>
          <p:nvPr/>
        </p:nvSpPr>
        <p:spPr>
          <a:xfrm>
            <a:off x="10012764" y="3314700"/>
            <a:ext cx="438912" cy="438912"/>
          </a:xfrm>
          <a:prstGeom prst="rect">
            <a:avLst/>
          </a:prstGeom>
          <a:solidFill>
            <a:srgbClr val="BFDBFE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E05E9C6E-3D63-8C80-984E-1F10F4C562AF}"/>
              </a:ext>
            </a:extLst>
          </p:cNvPr>
          <p:cNvSpPr/>
          <p:nvPr/>
        </p:nvSpPr>
        <p:spPr>
          <a:xfrm rot="16200000">
            <a:off x="8824002" y="1161246"/>
            <a:ext cx="1623060" cy="277528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6">
            <a:extLst>
              <a:ext uri="{FF2B5EF4-FFF2-40B4-BE49-F238E27FC236}">
                <a16:creationId xmlns:a16="http://schemas.microsoft.com/office/drawing/2014/main" id="{A4685D0B-2A61-F517-19C6-B805BA26EB78}"/>
              </a:ext>
            </a:extLst>
          </p:cNvPr>
          <p:cNvSpPr/>
          <p:nvPr/>
        </p:nvSpPr>
        <p:spPr>
          <a:xfrm>
            <a:off x="597296" y="2984991"/>
            <a:ext cx="4139463" cy="1272065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A15ADD81-C5BA-FC23-24DB-687F0B3498BA}"/>
              </a:ext>
            </a:extLst>
          </p:cNvPr>
          <p:cNvSpPr/>
          <p:nvPr/>
        </p:nvSpPr>
        <p:spPr>
          <a:xfrm>
            <a:off x="793095" y="3171980"/>
            <a:ext cx="3577401" cy="792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Technical Design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BDE546-F4EA-BAC7-935F-51B403340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4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technical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of concept already covers training, serving, deployment, versioning, and basic monitoring.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464040" y="594360"/>
            <a:ext cx="187452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6404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920240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947672"/>
            <a:ext cx="192024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211226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Training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149961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create_model.py trains, candidate models, add cross-validation, compute metrics,  compares models, feature importance (if applicable) and exports artifacts.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14600" y="23408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907792" y="1947672"/>
            <a:ext cx="201168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07792" y="1947672"/>
            <a:ext cx="2011680" cy="1097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72384" y="211226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Model artifacts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72384" y="2404872"/>
            <a:ext cx="159105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model.pkl, feature order, defaults (median for basic endpoint), percentiles (p5, p95 for warnings), metadata (run id, run name, model type, timestamp, for traceability).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82896" y="2340864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321808" y="1947672"/>
            <a:ext cx="205740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21808" y="1947672"/>
            <a:ext cx="2057400" cy="10972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2112264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FastAPI service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2404872"/>
            <a:ext cx="163677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Loads artifacts at startup, add validation layer (</a:t>
            </a:r>
            <a:r>
              <a:rPr lang="en-US" sz="1050" dirty="0" err="1">
                <a:solidFill>
                  <a:srgbClr val="475569"/>
                </a:solidFill>
              </a:rPr>
              <a:t>pydantic</a:t>
            </a:r>
            <a:r>
              <a:rPr lang="en-US" sz="1050" dirty="0">
                <a:solidFill>
                  <a:srgbClr val="475569"/>
                </a:solidFill>
              </a:rPr>
              <a:t>), add warnings, exposes prediction endpoints.</a:t>
            </a:r>
          </a:p>
          <a:p>
            <a:pPr marL="0" indent="0">
              <a:buNone/>
            </a:pPr>
            <a:endParaRPr lang="en-US" sz="1050" dirty="0">
              <a:solidFill>
                <a:srgbClr val="475569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Fast API + </a:t>
            </a:r>
            <a:r>
              <a:rPr lang="en-US" sz="1050" dirty="0" err="1">
                <a:solidFill>
                  <a:srgbClr val="475569"/>
                </a:solidFill>
              </a:rPr>
              <a:t>Uvicorn</a:t>
            </a:r>
            <a:r>
              <a:rPr lang="en-US" sz="1050" dirty="0">
                <a:solidFill>
                  <a:srgbClr val="475569"/>
                </a:solidFill>
              </a:rPr>
              <a:t> (web server)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42632" y="2340864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790688" y="1947672"/>
            <a:ext cx="201168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90688" y="1947672"/>
            <a:ext cx="2011680" cy="10972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55280" y="211226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Docker image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55280" y="2404872"/>
            <a:ext cx="159105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Application and model packaged together for deployment.</a:t>
            </a:r>
          </a:p>
          <a:p>
            <a:pPr marL="0" indent="0">
              <a:buNone/>
            </a:pPr>
            <a:endParaRPr lang="en-US" sz="1050" dirty="0">
              <a:solidFill>
                <a:srgbClr val="475569"/>
              </a:solidFill>
            </a:endParaRPr>
          </a:p>
          <a:p>
            <a:r>
              <a:rPr lang="en-US" sz="1050" dirty="0">
                <a:solidFill>
                  <a:srgbClr val="475569"/>
                </a:solidFill>
              </a:rPr>
              <a:t>Versioned app + model with dependencies and built-in health check.</a:t>
            </a:r>
          </a:p>
        </p:txBody>
      </p:sp>
      <p:sp>
        <p:nvSpPr>
          <p:cNvPr id="27" name="Text 25"/>
          <p:cNvSpPr/>
          <p:nvPr/>
        </p:nvSpPr>
        <p:spPr>
          <a:xfrm>
            <a:off x="9756648" y="23408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0168128" y="1947672"/>
            <a:ext cx="171907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168128" y="1947672"/>
            <a:ext cx="1719072" cy="10058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332720" y="21122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Docker Swarm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32720" y="2404872"/>
            <a:ext cx="137160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2 replicas, one-at-a-time update,10s delay between updates,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start-first for zero downtime,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restart on failure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69848" y="4568644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69848" y="4568644"/>
            <a:ext cx="2331720" cy="1097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34440" y="473323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GET /health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34440" y="5025844"/>
            <a:ext cx="19110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Used for service health checks.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75888" y="4568644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75888" y="4568644"/>
            <a:ext cx="2331720" cy="10972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0" y="473323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POST /predict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840480" y="5025844"/>
            <a:ext cx="19110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Full request schema for richer property inputs.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81928" y="4568644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81928" y="4568644"/>
            <a:ext cx="233172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46520" y="473323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POST /predict/basic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46520" y="5025844"/>
            <a:ext cx="19110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Simpler intake with imputed optional fields.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887968" y="4568644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887968" y="4568644"/>
            <a:ext cx="2331720" cy="10972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052560" y="473323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evaluate_model.py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052560" y="4979369"/>
            <a:ext cx="19110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Checks deployed model performance on newer labeled data, added </a:t>
            </a:r>
            <a:r>
              <a:rPr lang="en-US" sz="1050" dirty="0" err="1">
                <a:solidFill>
                  <a:srgbClr val="475569"/>
                </a:solidFill>
              </a:rPr>
              <a:t>MLFlow</a:t>
            </a:r>
            <a:r>
              <a:rPr lang="en-US" sz="1050" dirty="0">
                <a:solidFill>
                  <a:srgbClr val="475569"/>
                </a:solidFill>
              </a:rPr>
              <a:t> for experiment tracking 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923596" y="6100515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Key engineering idea: package the smallest end-to-end MLE system that still behaves like a real service.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58368" y="65562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37746C6-EB78-85B0-5DE8-3CC33380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  <p:sp>
        <p:nvSpPr>
          <p:cNvPr id="54" name="Shape 4">
            <a:extLst>
              <a:ext uri="{FF2B5EF4-FFF2-40B4-BE49-F238E27FC236}">
                <a16:creationId xmlns:a16="http://schemas.microsoft.com/office/drawing/2014/main" id="{5C45D3BA-3996-10A0-9606-8F2764BA1C8D}"/>
              </a:ext>
            </a:extLst>
          </p:cNvPr>
          <p:cNvSpPr/>
          <p:nvPr/>
        </p:nvSpPr>
        <p:spPr>
          <a:xfrm>
            <a:off x="1087548" y="4195524"/>
            <a:ext cx="7526099" cy="311944"/>
          </a:xfrm>
          <a:prstGeom prst="round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Endpoints</a:t>
            </a:r>
          </a:p>
        </p:txBody>
      </p:sp>
      <p:sp>
        <p:nvSpPr>
          <p:cNvPr id="55" name="Shape 4">
            <a:extLst>
              <a:ext uri="{FF2B5EF4-FFF2-40B4-BE49-F238E27FC236}">
                <a16:creationId xmlns:a16="http://schemas.microsoft.com/office/drawing/2014/main" id="{04FB0CC3-45C8-3F28-6C88-AB8E29C1ABBF}"/>
              </a:ext>
            </a:extLst>
          </p:cNvPr>
          <p:cNvSpPr/>
          <p:nvPr/>
        </p:nvSpPr>
        <p:spPr>
          <a:xfrm>
            <a:off x="8877301" y="4187952"/>
            <a:ext cx="2342387" cy="311944"/>
          </a:xfrm>
          <a:prstGeom prst="round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Evaluating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B74CE-F0F2-287C-99C5-6FF55EA1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9B935009-8E86-364E-2B0A-08087231423C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2E7C0D94-CA83-9833-9579-F27FC055509D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7">
            <a:extLst>
              <a:ext uri="{FF2B5EF4-FFF2-40B4-BE49-F238E27FC236}">
                <a16:creationId xmlns:a16="http://schemas.microsoft.com/office/drawing/2014/main" id="{4CFEE452-EFDD-5760-0CBA-00E7CD227358}"/>
              </a:ext>
            </a:extLst>
          </p:cNvPr>
          <p:cNvSpPr/>
          <p:nvPr/>
        </p:nvSpPr>
        <p:spPr>
          <a:xfrm>
            <a:off x="658368" y="65562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36568C5-35EA-B2CC-A91C-671D8ACF89FE}"/>
              </a:ext>
            </a:extLst>
          </p:cNvPr>
          <p:cNvSpPr/>
          <p:nvPr/>
        </p:nvSpPr>
        <p:spPr>
          <a:xfrm>
            <a:off x="64008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System Flowchart and Testing</a:t>
            </a:r>
            <a:endParaRPr lang="en-US" sz="24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667B07D5-DD70-8369-CB77-B9CA184F79CA}"/>
              </a:ext>
            </a:extLst>
          </p:cNvPr>
          <p:cNvSpPr/>
          <p:nvPr/>
        </p:nvSpPr>
        <p:spPr>
          <a:xfrm>
            <a:off x="64008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– Build &amp; Deploy - API</a:t>
            </a:r>
            <a:endParaRPr lang="en-US" sz="105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E24CF774-CE16-2C85-ABBE-AB90EFE7FCC9}"/>
              </a:ext>
            </a:extLst>
          </p:cNvPr>
          <p:cNvSpPr/>
          <p:nvPr/>
        </p:nvSpPr>
        <p:spPr>
          <a:xfrm>
            <a:off x="9464040" y="594360"/>
            <a:ext cx="187452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1F4BD10-90F6-73C8-DC82-D65A266BC303}"/>
              </a:ext>
            </a:extLst>
          </p:cNvPr>
          <p:cNvSpPr/>
          <p:nvPr/>
        </p:nvSpPr>
        <p:spPr>
          <a:xfrm>
            <a:off x="946404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view</a:t>
            </a:r>
            <a:endParaRPr lang="en-US" sz="10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0C0A1DA6-6CA9-0B0B-9A76-6CDFAA25F9AC}"/>
              </a:ext>
            </a:extLst>
          </p:cNvPr>
          <p:cNvSpPr/>
          <p:nvPr/>
        </p:nvSpPr>
        <p:spPr>
          <a:xfrm>
            <a:off x="2445796" y="5400175"/>
            <a:ext cx="7813940" cy="9051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1F15BB9D-1E18-64E9-275C-B9E4FF97E2B1}"/>
              </a:ext>
            </a:extLst>
          </p:cNvPr>
          <p:cNvSpPr/>
          <p:nvPr/>
        </p:nvSpPr>
        <p:spPr>
          <a:xfrm>
            <a:off x="2980392" y="5566188"/>
            <a:ext cx="6744747" cy="739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/>
            <a:r>
              <a:rPr lang="en-US" sz="9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With Docker Swarm, the project runs the API as 2 replicas by default, supports scaling the number of replicas up or down, and performs rolling updates with start-first, so a new container starts before the old one stops. </a:t>
            </a:r>
          </a:p>
          <a:p>
            <a:pPr algn="ctr"/>
            <a:endParaRPr lang="en-US" sz="900" dirty="0">
              <a:solidFill>
                <a:srgbClr val="475569"/>
              </a:solidFill>
              <a:latin typeface="Arial" pitchFamily="34" charset="0"/>
              <a:cs typeface="Arial" pitchFamily="34" charset="-120"/>
            </a:endParaRPr>
          </a:p>
          <a:p>
            <a:pPr algn="ctr"/>
            <a:r>
              <a:rPr lang="en-US" sz="9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That gave a simple local solution for horizontal scaling and zero-downtime model updates without needing cloud infrastructure for the proof of concept.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0968E63-2FBB-FEAA-36EF-8C0350327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156EE6-3291-F4AF-4A58-5D0615C6D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382" y="5566188"/>
            <a:ext cx="1045653" cy="5855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E75666-F539-5759-90A9-9426C27A3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69" y="1486114"/>
            <a:ext cx="9890673" cy="384089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0365FC-100B-32C2-E82B-F9E4C45594E0}"/>
              </a:ext>
            </a:extLst>
          </p:cNvPr>
          <p:cNvCxnSpPr/>
          <p:nvPr/>
        </p:nvCxnSpPr>
        <p:spPr>
          <a:xfrm>
            <a:off x="5972961" y="2348917"/>
            <a:ext cx="0" cy="251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4F2E29-D179-1152-4F01-258C952A7EB0}"/>
              </a:ext>
            </a:extLst>
          </p:cNvPr>
          <p:cNvCxnSpPr/>
          <p:nvPr/>
        </p:nvCxnSpPr>
        <p:spPr>
          <a:xfrm>
            <a:off x="5965970" y="3429000"/>
            <a:ext cx="0" cy="251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44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40BE1-D37B-DFFF-C7BE-572CA900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3446194B-7321-A6F7-B966-15BD63181ABE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A4407DCF-6448-EB50-D909-E78D107E22A4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F7D7843-D18D-9517-E42B-A8FF7C8A6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  <p:sp>
        <p:nvSpPr>
          <p:cNvPr id="12" name="Shape 3">
            <a:extLst>
              <a:ext uri="{FF2B5EF4-FFF2-40B4-BE49-F238E27FC236}">
                <a16:creationId xmlns:a16="http://schemas.microsoft.com/office/drawing/2014/main" id="{FE27E00D-346A-9077-6257-2A73DB05D127}"/>
              </a:ext>
            </a:extLst>
          </p:cNvPr>
          <p:cNvSpPr/>
          <p:nvPr/>
        </p:nvSpPr>
        <p:spPr>
          <a:xfrm>
            <a:off x="504444" y="1072197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877E3D21-67D6-CA29-E153-958544645E86}"/>
              </a:ext>
            </a:extLst>
          </p:cNvPr>
          <p:cNvSpPr/>
          <p:nvPr/>
        </p:nvSpPr>
        <p:spPr>
          <a:xfrm>
            <a:off x="504444" y="1072197"/>
            <a:ext cx="5486400" cy="146304"/>
          </a:xfrm>
          <a:prstGeom prst="roundRect">
            <a:avLst>
              <a:gd name="adj" fmla="val 18750"/>
            </a:avLst>
          </a:prstGeom>
          <a:solidFill>
            <a:srgbClr val="0D1B3D"/>
          </a:solidFill>
          <a:ln w="12700">
            <a:solidFill>
              <a:srgbClr val="0D1B3D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9CE08EF3-4C6E-92D9-5F1C-2FA35CA12F4A}"/>
              </a:ext>
            </a:extLst>
          </p:cNvPr>
          <p:cNvSpPr/>
          <p:nvPr/>
        </p:nvSpPr>
        <p:spPr>
          <a:xfrm>
            <a:off x="669036" y="1273365"/>
            <a:ext cx="5157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0D1B3D"/>
                </a:solidFill>
              </a:rPr>
              <a:t>POST /predict</a:t>
            </a:r>
            <a:endParaRPr lang="en-US" sz="17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2B8BAC41-CC84-F7BC-66C0-6BF28B25066D}"/>
              </a:ext>
            </a:extLst>
          </p:cNvPr>
          <p:cNvSpPr/>
          <p:nvPr/>
        </p:nvSpPr>
        <p:spPr>
          <a:xfrm>
            <a:off x="6192012" y="1072197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1588E8D2-0A14-403A-ACF1-9790E9C00F1B}"/>
              </a:ext>
            </a:extLst>
          </p:cNvPr>
          <p:cNvSpPr/>
          <p:nvPr/>
        </p:nvSpPr>
        <p:spPr>
          <a:xfrm>
            <a:off x="6192012" y="1072197"/>
            <a:ext cx="5486400" cy="146304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DCABBB62-63F0-BCA1-8336-8F76A4AC5DEA}"/>
              </a:ext>
            </a:extLst>
          </p:cNvPr>
          <p:cNvSpPr/>
          <p:nvPr/>
        </p:nvSpPr>
        <p:spPr>
          <a:xfrm>
            <a:off x="6356604" y="1273365"/>
            <a:ext cx="5157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0D1B3D"/>
                </a:solidFill>
              </a:rPr>
              <a:t>POST /predict/basic</a:t>
            </a:r>
            <a:endParaRPr lang="en-US" sz="170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005D5C0E-F3E5-E261-4CD1-DEBDC92693E3}"/>
              </a:ext>
            </a:extLst>
          </p:cNvPr>
          <p:cNvSpPr/>
          <p:nvPr/>
        </p:nvSpPr>
        <p:spPr>
          <a:xfrm>
            <a:off x="669036" y="1575117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60" dirty="0">
                <a:solidFill>
                  <a:srgbClr val="25324A"/>
                </a:solidFill>
              </a:rPr>
              <a:t>Accepts all 18 property features. Demographics are joined server-side using zipcode and must not be sent in the request.</a:t>
            </a:r>
            <a:endParaRPr lang="en-US" sz="96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AE0F09F2-7A84-3902-7A80-FF82856AED05}"/>
              </a:ext>
            </a:extLst>
          </p:cNvPr>
          <p:cNvSpPr/>
          <p:nvPr/>
        </p:nvSpPr>
        <p:spPr>
          <a:xfrm>
            <a:off x="669036" y="1986597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FA796081-6875-76BD-7EED-6F0B12833999}"/>
              </a:ext>
            </a:extLst>
          </p:cNvPr>
          <p:cNvSpPr/>
          <p:nvPr/>
        </p:nvSpPr>
        <p:spPr>
          <a:xfrm>
            <a:off x="742188" y="2032317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" b="1" dirty="0">
                <a:solidFill>
                  <a:srgbClr val="0D1B3D"/>
                </a:solidFill>
              </a:rPr>
              <a:t>Input: 18 fields</a:t>
            </a:r>
            <a:endParaRPr lang="en-US" sz="860" dirty="0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504EE265-AC6D-3CBE-958A-5B1333FD487F}"/>
              </a:ext>
            </a:extLst>
          </p:cNvPr>
          <p:cNvSpPr/>
          <p:nvPr/>
        </p:nvSpPr>
        <p:spPr>
          <a:xfrm>
            <a:off x="2205228" y="1986597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1207B808-10F7-192A-D4B5-1FF4237ED436}"/>
              </a:ext>
            </a:extLst>
          </p:cNvPr>
          <p:cNvSpPr/>
          <p:nvPr/>
        </p:nvSpPr>
        <p:spPr>
          <a:xfrm>
            <a:off x="2278380" y="2032317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" b="1" dirty="0">
                <a:solidFill>
                  <a:srgbClr val="0D1B3D"/>
                </a:solidFill>
              </a:rPr>
              <a:t>Output: prediction + warnings</a:t>
            </a:r>
            <a:endParaRPr lang="en-US" sz="86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221DC73A-DF3F-E3AA-FD75-7F1A88947244}"/>
              </a:ext>
            </a:extLst>
          </p:cNvPr>
          <p:cNvSpPr/>
          <p:nvPr/>
        </p:nvSpPr>
        <p:spPr>
          <a:xfrm>
            <a:off x="669036" y="2260917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 b="1" dirty="0">
                <a:solidFill>
                  <a:srgbClr val="0D1B3D"/>
                </a:solidFill>
              </a:rPr>
              <a:t>Example request</a:t>
            </a:r>
            <a:endParaRPr lang="en-US" sz="92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0CFAC15B-7225-A58D-9F96-AEBDC8DC6EB9}"/>
              </a:ext>
            </a:extLst>
          </p:cNvPr>
          <p:cNvSpPr/>
          <p:nvPr/>
        </p:nvSpPr>
        <p:spPr>
          <a:xfrm>
            <a:off x="669036" y="2425509"/>
            <a:ext cx="2487168" cy="2651760"/>
          </a:xfrm>
          <a:prstGeom prst="roundRect">
            <a:avLst>
              <a:gd name="adj" fmla="val 1103"/>
            </a:avLst>
          </a:prstGeom>
          <a:solidFill>
            <a:srgbClr val="FBFB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9300CBAC-A391-9FCA-0325-71BB17AACB05}"/>
              </a:ext>
            </a:extLst>
          </p:cNvPr>
          <p:cNvSpPr/>
          <p:nvPr/>
        </p:nvSpPr>
        <p:spPr>
          <a:xfrm>
            <a:off x="742188" y="2489517"/>
            <a:ext cx="23408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"bedrooms": 4,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"bathrooms": 1.0,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"sqft_living": 1680,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"sqft_lot": 5043,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"floors": 1.5,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"waterfront": 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"view": 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"condition": 4,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"grade": 6,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"sqft_above": 1680,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"sqft_basement": 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"yr_built": 1911,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"yr_renovated": 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"zipcode": "98118",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"lat": 47.5354,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"long": -122.273,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"sqft_living15": 1560,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"sqft_lot15": 5765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3F4410BF-70A4-0576-419D-52EBFEAB0EFF}"/>
              </a:ext>
            </a:extLst>
          </p:cNvPr>
          <p:cNvSpPr/>
          <p:nvPr/>
        </p:nvSpPr>
        <p:spPr>
          <a:xfrm>
            <a:off x="3265932" y="2260917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 b="1" dirty="0">
                <a:solidFill>
                  <a:srgbClr val="0D1B3D"/>
                </a:solidFill>
              </a:rPr>
              <a:t>Example response</a:t>
            </a:r>
            <a:endParaRPr lang="en-US" sz="920" dirty="0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98418078-E1A4-8E75-0B0A-F084F312AB7F}"/>
              </a:ext>
            </a:extLst>
          </p:cNvPr>
          <p:cNvSpPr/>
          <p:nvPr/>
        </p:nvSpPr>
        <p:spPr>
          <a:xfrm>
            <a:off x="3265932" y="2425509"/>
            <a:ext cx="2560320" cy="2651760"/>
          </a:xfrm>
          <a:prstGeom prst="roundRect">
            <a:avLst>
              <a:gd name="adj" fmla="val 1071"/>
            </a:avLst>
          </a:prstGeom>
          <a:solidFill>
            <a:srgbClr val="FBFB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89AB08F3-F457-0450-5D3E-0879F1D3583F}"/>
              </a:ext>
            </a:extLst>
          </p:cNvPr>
          <p:cNvSpPr/>
          <p:nvPr/>
        </p:nvSpPr>
        <p:spPr>
          <a:xfrm>
            <a:off x="3339084" y="2489517"/>
            <a:ext cx="24140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"prediction_id": "d2919088-da15-434f-b167-ee19128df395",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"predicted_price": 352202.0,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[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"yr_built=1911 is outside the typical training range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(p5=1915.0, p95=2011.0)"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"data_quality_score": 0.9,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"model_name": "sound-realty-price-predictor",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"model_version": "1.1.0",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"model_stage": "development",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"schema_version": "1.0",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"prediction_latency_ms": 39.6,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"2026-04-02T14:16:52.375195+00:00"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081FA326-6B97-4922-32A3-CA8BEE74E310}"/>
              </a:ext>
            </a:extLst>
          </p:cNvPr>
          <p:cNvSpPr/>
          <p:nvPr/>
        </p:nvSpPr>
        <p:spPr>
          <a:xfrm>
            <a:off x="669036" y="5186997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One warning </a:t>
            </a:r>
            <a:r>
              <a:rPr lang="en-US" sz="880" dirty="0">
                <a:solidFill>
                  <a:srgbClr val="5E6B85"/>
                </a:solidFill>
              </a:rPr>
              <a:t>was generated because yr_built=1911 falls outside the typical training distribution, reducing the data quality score from 1.0 to 0.9.</a:t>
            </a:r>
            <a:endParaRPr lang="en-US" sz="880" dirty="0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4C1D79D8-AE2F-F769-91B6-C04138EB1DB6}"/>
              </a:ext>
            </a:extLst>
          </p:cNvPr>
          <p:cNvSpPr/>
          <p:nvPr/>
        </p:nvSpPr>
        <p:spPr>
          <a:xfrm>
            <a:off x="6356604" y="1575117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60" dirty="0">
                <a:solidFill>
                  <a:srgbClr val="25324A"/>
                </a:solidFill>
              </a:rPr>
              <a:t>Requires only the 8 core house features plus zipcode. Remaining optional fields are imputed with training-set medians when omitted.</a:t>
            </a:r>
            <a:endParaRPr lang="en-US" sz="960" dirty="0"/>
          </a:p>
        </p:txBody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6AA7B122-E259-717C-313E-CFD503C67CE6}"/>
              </a:ext>
            </a:extLst>
          </p:cNvPr>
          <p:cNvSpPr/>
          <p:nvPr/>
        </p:nvSpPr>
        <p:spPr>
          <a:xfrm>
            <a:off x="6356604" y="1986597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B0A21729-9CDD-79C2-0AD3-8FB5B6C328C9}"/>
              </a:ext>
            </a:extLst>
          </p:cNvPr>
          <p:cNvSpPr/>
          <p:nvPr/>
        </p:nvSpPr>
        <p:spPr>
          <a:xfrm>
            <a:off x="6429756" y="2032317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" b="1" dirty="0">
                <a:solidFill>
                  <a:srgbClr val="0D1B3D"/>
                </a:solidFill>
              </a:rPr>
              <a:t>Required: 8 fields + zipcode</a:t>
            </a:r>
            <a:endParaRPr lang="en-US" sz="860" dirty="0"/>
          </a:p>
        </p:txBody>
      </p:sp>
      <p:sp>
        <p:nvSpPr>
          <p:cNvPr id="57" name="Shape 24">
            <a:extLst>
              <a:ext uri="{FF2B5EF4-FFF2-40B4-BE49-F238E27FC236}">
                <a16:creationId xmlns:a16="http://schemas.microsoft.com/office/drawing/2014/main" id="{A177DBA1-EB94-1F51-7FC1-B33AB6F2699B}"/>
              </a:ext>
            </a:extLst>
          </p:cNvPr>
          <p:cNvSpPr/>
          <p:nvPr/>
        </p:nvSpPr>
        <p:spPr>
          <a:xfrm>
            <a:off x="8478012" y="1986597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84FBE5C5-984D-6240-FC95-3A0C07B7CA8C}"/>
              </a:ext>
            </a:extLst>
          </p:cNvPr>
          <p:cNvSpPr/>
          <p:nvPr/>
        </p:nvSpPr>
        <p:spPr>
          <a:xfrm>
            <a:off x="8551164" y="2032317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" b="1" dirty="0">
                <a:solidFill>
                  <a:srgbClr val="0D1B3D"/>
                </a:solidFill>
              </a:rPr>
              <a:t>Optional: 10 imputed</a:t>
            </a:r>
            <a:endParaRPr lang="en-US" sz="860" dirty="0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8CF872DD-6171-5B7E-7BAD-F11BFAEA632E}"/>
              </a:ext>
            </a:extLst>
          </p:cNvPr>
          <p:cNvSpPr/>
          <p:nvPr/>
        </p:nvSpPr>
        <p:spPr>
          <a:xfrm>
            <a:off x="6356604" y="2260917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 b="1" dirty="0">
                <a:solidFill>
                  <a:srgbClr val="0D1B3D"/>
                </a:solidFill>
              </a:rPr>
              <a:t>Example request</a:t>
            </a:r>
            <a:endParaRPr lang="en-US" sz="920" dirty="0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39EE23F6-7438-19F5-A6A6-86BF0926095E}"/>
              </a:ext>
            </a:extLst>
          </p:cNvPr>
          <p:cNvSpPr/>
          <p:nvPr/>
        </p:nvSpPr>
        <p:spPr>
          <a:xfrm>
            <a:off x="6356604" y="2425509"/>
            <a:ext cx="2103120" cy="2651760"/>
          </a:xfrm>
          <a:prstGeom prst="roundRect">
            <a:avLst>
              <a:gd name="adj" fmla="val 1304"/>
            </a:avLst>
          </a:prstGeom>
          <a:solidFill>
            <a:srgbClr val="FBFB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0EC0240E-72A3-186A-5BD7-0B06C37D0249}"/>
              </a:ext>
            </a:extLst>
          </p:cNvPr>
          <p:cNvSpPr/>
          <p:nvPr/>
        </p:nvSpPr>
        <p:spPr>
          <a:xfrm>
            <a:off x="6429756" y="2489517"/>
            <a:ext cx="1956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"bedrooms": 4.0,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"bathrooms": 1.0,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"sqft_living": 1680.0,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"sqft_lot": 5043.0,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"floors": 1.5,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"sqft_above": 1680.0,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"sqft_basement": 0.0,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"zipcode": "98118"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39D5158A-6823-3643-4642-7BC725B10D01}"/>
              </a:ext>
            </a:extLst>
          </p:cNvPr>
          <p:cNvSpPr/>
          <p:nvPr/>
        </p:nvSpPr>
        <p:spPr>
          <a:xfrm>
            <a:off x="8569452" y="2260917"/>
            <a:ext cx="2944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 b="1" dirty="0">
                <a:solidFill>
                  <a:srgbClr val="0D1B3D"/>
                </a:solidFill>
              </a:rPr>
              <a:t>Example response</a:t>
            </a:r>
            <a:endParaRPr lang="en-US" sz="920" dirty="0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FB3856F6-0270-BC81-5C7F-9718EB17697A}"/>
              </a:ext>
            </a:extLst>
          </p:cNvPr>
          <p:cNvSpPr/>
          <p:nvPr/>
        </p:nvSpPr>
        <p:spPr>
          <a:xfrm>
            <a:off x="8569452" y="2425509"/>
            <a:ext cx="2944368" cy="2651760"/>
          </a:xfrm>
          <a:prstGeom prst="roundRect">
            <a:avLst>
              <a:gd name="adj" fmla="val 1034"/>
            </a:avLst>
          </a:prstGeom>
          <a:solidFill>
            <a:srgbClr val="FBFB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39B81D58-11EC-1266-6616-518987622A3C}"/>
              </a:ext>
            </a:extLst>
          </p:cNvPr>
          <p:cNvSpPr/>
          <p:nvPr/>
        </p:nvSpPr>
        <p:spPr>
          <a:xfrm>
            <a:off x="8642604" y="2489517"/>
            <a:ext cx="27980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"prediction_id": "29948b83-2794-473d-91bf-902157fbdd4c",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"predicted_price": 432658.76,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[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"waterfront not provided, median value used",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"view not provided, median value used",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"condition not provided, median value used",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"grade not provided, median value used",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"yr_built not provided, median value used",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"yr_renovated not provided, median value used",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"lat not provided, median value used",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"long not provided, median value used",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"sqft_living15 not provided, median value used",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"sqft_lot15 not provided, median value used"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"data_quality_score": 0.0,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"model_name": "sound-realty-price-predictor",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"model_version": "1.1.0",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"model_stage": "development",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"schema_version": "1.0",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"prediction_latency_ms": 34.24,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"2026-04-02T20:00:20.010710+00:00"}</a:t>
            </a:r>
            <a:endParaRPr lang="en-US" sz="700" dirty="0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FE6E226F-C88B-DB3B-98DD-C0EC1B4EAC80}"/>
              </a:ext>
            </a:extLst>
          </p:cNvPr>
          <p:cNvSpPr/>
          <p:nvPr/>
        </p:nvSpPr>
        <p:spPr>
          <a:xfrm>
            <a:off x="6356604" y="5186997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Every imputed field </a:t>
            </a:r>
            <a:r>
              <a:rPr lang="en-US" sz="880" dirty="0">
                <a:solidFill>
                  <a:srgbClr val="5E6B85"/>
                </a:solidFill>
              </a:rPr>
              <a:t>is listed in warnings. In this example, 10 imputations reduce the data quality score from 1.0 to 0.0.</a:t>
            </a:r>
            <a:endParaRPr lang="en-US" sz="880" dirty="0"/>
          </a:p>
        </p:txBody>
      </p:sp>
      <p:sp>
        <p:nvSpPr>
          <p:cNvPr id="66" name="Shape 33">
            <a:extLst>
              <a:ext uri="{FF2B5EF4-FFF2-40B4-BE49-F238E27FC236}">
                <a16:creationId xmlns:a16="http://schemas.microsoft.com/office/drawing/2014/main" id="{FB49114B-FE53-2BFE-64C4-DEC0FD598CC9}"/>
              </a:ext>
            </a:extLst>
          </p:cNvPr>
          <p:cNvSpPr/>
          <p:nvPr/>
        </p:nvSpPr>
        <p:spPr>
          <a:xfrm>
            <a:off x="504444" y="5654767"/>
            <a:ext cx="11183112" cy="84124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247172AB-7175-3EE6-0AFA-5A0EB70FE97C}"/>
              </a:ext>
            </a:extLst>
          </p:cNvPr>
          <p:cNvSpPr/>
          <p:nvPr/>
        </p:nvSpPr>
        <p:spPr>
          <a:xfrm>
            <a:off x="504444" y="5654767"/>
            <a:ext cx="11183112" cy="146304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BCA10B89-9613-F07B-4B51-BB9AD08387C7}"/>
              </a:ext>
            </a:extLst>
          </p:cNvPr>
          <p:cNvSpPr/>
          <p:nvPr/>
        </p:nvSpPr>
        <p:spPr>
          <a:xfrm>
            <a:off x="669036" y="5855935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0D1B3D"/>
                </a:solidFill>
              </a:rPr>
              <a:t>Input distribution drift system</a:t>
            </a:r>
            <a:endParaRPr lang="en-US" sz="1700" dirty="0"/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AD9FAF21-6E51-5B4E-3439-46CFB2D3B99B}"/>
              </a:ext>
            </a:extLst>
          </p:cNvPr>
          <p:cNvSpPr/>
          <p:nvPr/>
        </p:nvSpPr>
        <p:spPr>
          <a:xfrm>
            <a:off x="669036" y="6166831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 dirty="0">
                <a:solidFill>
                  <a:srgbClr val="25324A"/>
                </a:solidFill>
              </a:rPr>
              <a:t>At prediction time, each incoming feature is checked against the p5/p95 bounds stored in model_percentiles.json, computed from the training set during model build.</a:t>
            </a:r>
            <a:endParaRPr lang="en-US" sz="920" dirty="0"/>
          </a:p>
        </p:txBody>
      </p:sp>
      <p:sp>
        <p:nvSpPr>
          <p:cNvPr id="70" name="Text 37">
            <a:extLst>
              <a:ext uri="{FF2B5EF4-FFF2-40B4-BE49-F238E27FC236}">
                <a16:creationId xmlns:a16="http://schemas.microsoft.com/office/drawing/2014/main" id="{2A7D5162-3844-7EE7-34BE-30B20B6F52FF}"/>
              </a:ext>
            </a:extLst>
          </p:cNvPr>
          <p:cNvSpPr/>
          <p:nvPr/>
        </p:nvSpPr>
        <p:spPr>
          <a:xfrm>
            <a:off x="5652516" y="6166831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 dirty="0">
                <a:solidFill>
                  <a:srgbClr val="25324A"/>
                </a:solidFill>
              </a:rPr>
              <a:t>If a value falls outside those bounds, the API adds a warning to the response. A sustained increase in warning rate across requests is an early signal that the input distribution has shifted before labeled outcomes are available.</a:t>
            </a:r>
            <a:endParaRPr lang="en-US" sz="920" dirty="0"/>
          </a:p>
        </p:txBody>
      </p:sp>
      <p:sp>
        <p:nvSpPr>
          <p:cNvPr id="71" name="Shape 38">
            <a:extLst>
              <a:ext uri="{FF2B5EF4-FFF2-40B4-BE49-F238E27FC236}">
                <a16:creationId xmlns:a16="http://schemas.microsoft.com/office/drawing/2014/main" id="{5974FC95-E894-552A-5F53-32FE8F5B61AD}"/>
              </a:ext>
            </a:extLst>
          </p:cNvPr>
          <p:cNvSpPr/>
          <p:nvPr/>
        </p:nvSpPr>
        <p:spPr>
          <a:xfrm>
            <a:off x="5515356" y="6020527"/>
            <a:ext cx="0" cy="292608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2" name="Shape 39">
            <a:extLst>
              <a:ext uri="{FF2B5EF4-FFF2-40B4-BE49-F238E27FC236}">
                <a16:creationId xmlns:a16="http://schemas.microsoft.com/office/drawing/2014/main" id="{B09E7364-F815-4EC7-D1B8-3B3C132F50CC}"/>
              </a:ext>
            </a:extLst>
          </p:cNvPr>
          <p:cNvSpPr/>
          <p:nvPr/>
        </p:nvSpPr>
        <p:spPr>
          <a:xfrm>
            <a:off x="8926543" y="5801071"/>
            <a:ext cx="2559845" cy="219456"/>
          </a:xfrm>
          <a:prstGeom prst="roundRect">
            <a:avLst>
              <a:gd name="adj" fmla="val 11765"/>
            </a:avLst>
          </a:prstGeom>
          <a:solidFill>
            <a:srgbClr val="F6FAF7"/>
          </a:solidFill>
          <a:ln w="12700">
            <a:solidFill>
              <a:srgbClr val="D7EBDD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3" name="Text 40">
            <a:extLst>
              <a:ext uri="{FF2B5EF4-FFF2-40B4-BE49-F238E27FC236}">
                <a16:creationId xmlns:a16="http://schemas.microsoft.com/office/drawing/2014/main" id="{BA85BF6D-6AB4-75C0-8A64-50A24CBB7D80}"/>
              </a:ext>
            </a:extLst>
          </p:cNvPr>
          <p:cNvSpPr/>
          <p:nvPr/>
        </p:nvSpPr>
        <p:spPr>
          <a:xfrm>
            <a:off x="8926543" y="5883367"/>
            <a:ext cx="2440973" cy="75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7A4D"/>
                </a:solidFill>
              </a:rPr>
              <a:t>data_quality_score = 1.0 - 0.1 × warnings</a:t>
            </a:r>
            <a:endParaRPr lang="en-US" sz="850" dirty="0"/>
          </a:p>
        </p:txBody>
      </p:sp>
      <p:sp>
        <p:nvSpPr>
          <p:cNvPr id="74" name="Text 2">
            <a:extLst>
              <a:ext uri="{FF2B5EF4-FFF2-40B4-BE49-F238E27FC236}">
                <a16:creationId xmlns:a16="http://schemas.microsoft.com/office/drawing/2014/main" id="{E4912685-F654-4FB1-ACF4-146D927D11DA}"/>
              </a:ext>
            </a:extLst>
          </p:cNvPr>
          <p:cNvSpPr/>
          <p:nvPr/>
        </p:nvSpPr>
        <p:spPr>
          <a:xfrm>
            <a:off x="413004" y="356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API Prediction Endpoints</a:t>
            </a:r>
            <a:endParaRPr lang="en-US" sz="2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E2D76E-1D56-6AA5-03A1-710BF9F25A1F}"/>
              </a:ext>
            </a:extLst>
          </p:cNvPr>
          <p:cNvSpPr txBox="1"/>
          <p:nvPr/>
        </p:nvSpPr>
        <p:spPr>
          <a:xfrm>
            <a:off x="334881" y="798031"/>
            <a:ext cx="52973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Endpoints return not just a prediction, but also operational context.</a:t>
            </a:r>
          </a:p>
        </p:txBody>
      </p:sp>
    </p:spTree>
    <p:extLst>
      <p:ext uri="{BB962C8B-B14F-4D97-AF65-F5344CB8AC3E}">
        <p14:creationId xmlns:p14="http://schemas.microsoft.com/office/powerpoint/2010/main" val="1101645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11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D"/>
                </a:solidFill>
              </a:rPr>
              <a:t>Full system testing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03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5"/>
                </a:solidFill>
              </a:rPr>
              <a:t>Testing and operational validation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D"/>
                </a:solidFill>
              </a:rPr>
              <a:t>What we validated in practice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435608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D1B3D"/>
                </a:solidFill>
              </a:rPr>
              <a:t>Swarm deployment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12648" y="1600200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85"/>
                </a:solidFill>
              </a:rPr>
              <a:t>2 replicas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25496" y="1335024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35224" y="1435608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D1B3D"/>
                </a:solidFill>
              </a:rPr>
              <a:t>Rolling update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2935224" y="1600200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85"/>
                </a:solidFill>
              </a:rPr>
              <a:t>1.0.0 → 1.1.0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48072" y="1335024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57800" y="1435608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D1B3D"/>
                </a:solidFill>
              </a:rPr>
              <a:t>Scale test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5257800" y="1600200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85"/>
                </a:solidFill>
              </a:rPr>
              <a:t>2 → 4 →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70648" y="1335024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0376" y="1435608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D1B3D"/>
                </a:solidFill>
              </a:rPr>
              <a:t>API tests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7580376" y="1600200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85"/>
                </a:solidFill>
              </a:rPr>
              <a:t>Responses before/after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793224" y="1335024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02952" y="1435608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D1B3D"/>
                </a:solidFill>
              </a:rPr>
              <a:t>Basic endpoint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902952" y="1600200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85"/>
                </a:solidFill>
              </a:rPr>
              <a:t>Imputation verified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1993392"/>
            <a:ext cx="2761488" cy="425196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1993392"/>
            <a:ext cx="2761488" cy="146304"/>
          </a:xfrm>
          <a:prstGeom prst="roundRect">
            <a:avLst>
              <a:gd name="adj" fmla="val 18750"/>
            </a:avLst>
          </a:prstGeom>
          <a:solidFill>
            <a:srgbClr val="0D1B3D"/>
          </a:solidFill>
          <a:ln w="12700">
            <a:solidFill>
              <a:srgbClr val="0D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220370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3D"/>
                </a:solidFill>
              </a:rPr>
              <a:t>Deploy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465576" y="1993392"/>
            <a:ext cx="2761488" cy="425196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65576" y="1993392"/>
            <a:ext cx="2761488" cy="146304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30168" y="220370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3D"/>
                </a:solidFill>
              </a:rPr>
              <a:t>API tests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28232" y="1993392"/>
            <a:ext cx="2761488" cy="425196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28232" y="1993392"/>
            <a:ext cx="2761488" cy="146304"/>
          </a:xfrm>
          <a:prstGeom prst="roundRect">
            <a:avLst>
              <a:gd name="adj" fmla="val 18750"/>
            </a:avLst>
          </a:prstGeom>
          <a:solidFill>
            <a:srgbClr val="0D1B3D"/>
          </a:solidFill>
          <a:ln w="12700">
            <a:solidFill>
              <a:srgbClr val="0D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92824" y="220370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3D"/>
                </a:solidFill>
              </a:rPr>
              <a:t>Rolling update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390888" y="1993392"/>
            <a:ext cx="2761488" cy="425196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390888" y="1993392"/>
            <a:ext cx="2761488" cy="146304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555480" y="220370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3D"/>
                </a:solidFill>
              </a:rPr>
              <a:t>Scale check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67512" y="2615184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6384" y="2560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Initial stack deployed in Swarm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667512" y="2871216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86384" y="2816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Service exposed on port 8000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667512" y="3127248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86384" y="3072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Baseline image: sound-realty-api:1.0.0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640080" y="3410712"/>
            <a:ext cx="2487168" cy="914400"/>
          </a:xfrm>
          <a:prstGeom prst="roundRect">
            <a:avLst>
              <a:gd name="adj" fmla="val 3000"/>
            </a:avLst>
          </a:prstGeom>
          <a:solidFill>
            <a:srgbClr val="FBFB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1520" y="3483864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MODE        REPLICAS  IMAGE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realty_api   replicated  0/2       sound-realty-api:1.0.0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667512" y="446227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85"/>
                </a:solidFill>
              </a:rPr>
              <a:t>This log confirms the stack/service was created and bound to the published port.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" y="49926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D1B3D"/>
                </a:solidFill>
              </a:rPr>
              <a:t>Small metrics strip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667512" y="51755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F7A4D"/>
                </a:solidFill>
              </a:rPr>
              <a:t>R² 0.7398 → 0.8831</a:t>
            </a:r>
            <a:endParaRPr lang="en-US" sz="940" dirty="0"/>
          </a:p>
          <a:p>
            <a:pPr marL="0" indent="0">
              <a:buNone/>
            </a:pPr>
            <a:r>
              <a:rPr lang="en-US" sz="940" b="1" dirty="0">
                <a:solidFill>
                  <a:srgbClr val="1F7A4D"/>
                </a:solidFill>
              </a:rPr>
              <a:t>MAE $97,436 → $68,975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3630168" y="2615184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49040" y="2560320"/>
            <a:ext cx="24780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Full endpoint tested before and after update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3630168" y="2913161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749040" y="2858297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Predictions returned model version in output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3630168" y="3169193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749040" y="3114329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Basic endpoint showed field imputation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3602736" y="3438144"/>
            <a:ext cx="2487168" cy="1280160"/>
          </a:xfrm>
          <a:prstGeom prst="roundRect">
            <a:avLst>
              <a:gd name="adj" fmla="val 2143"/>
            </a:avLst>
          </a:prstGeom>
          <a:solidFill>
            <a:srgbClr val="FBFB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94176" y="3511296"/>
            <a:ext cx="23042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Submitting 5 examples to /predict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$374,470 [model 1.0.0]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$352,202 [model 1.1.0]</a:t>
            </a:r>
            <a:endParaRPr lang="en-US" sz="870" dirty="0"/>
          </a:p>
          <a:p>
            <a:pPr marL="0" indent="0">
              <a:buNone/>
            </a:pP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Submitting 1 example to /predict/basic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$432,659 [model 1.1.0]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3630168" y="4901184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85"/>
                </a:solidFill>
              </a:rPr>
              <a:t>The logs show the API stayed callable and that responses reflected the active deployed model version.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630168" y="5449824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85"/>
                </a:solidFill>
              </a:rPr>
              <a:t>Basic endpoint also listed imputed optional fields, validating the simplified intake path.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592824" y="2615184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711696" y="2560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Image updated from 1.0.0 to 1.1.0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6592824" y="2871216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711696" y="2816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Old tasks shut down after new tasks started</a:t>
            </a:r>
            <a:endParaRPr lang="en-US" sz="1030" dirty="0"/>
          </a:p>
        </p:txBody>
      </p:sp>
      <p:sp>
        <p:nvSpPr>
          <p:cNvPr id="58" name="Shape 56"/>
          <p:cNvSpPr/>
          <p:nvPr/>
        </p:nvSpPr>
        <p:spPr>
          <a:xfrm>
            <a:off x="6592824" y="3127248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711696" y="3072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Confirms start-first rolling replacement</a:t>
            </a:r>
            <a:endParaRPr lang="en-US" sz="1030" dirty="0"/>
          </a:p>
        </p:txBody>
      </p:sp>
      <p:sp>
        <p:nvSpPr>
          <p:cNvPr id="60" name="Shape 58"/>
          <p:cNvSpPr/>
          <p:nvPr/>
        </p:nvSpPr>
        <p:spPr>
          <a:xfrm>
            <a:off x="6565392" y="3438144"/>
            <a:ext cx="2487168" cy="1051560"/>
          </a:xfrm>
          <a:prstGeom prst="roundRect">
            <a:avLst>
              <a:gd name="adj" fmla="val 2609"/>
            </a:avLst>
          </a:prstGeom>
          <a:solidFill>
            <a:srgbClr val="FBFB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656832" y="3511296"/>
            <a:ext cx="2304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realty_api.1  1.1.0  Running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\_ realty_api.1  1.0.0  Shutdown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realty_api.2  1.1.0  Running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\_ realty_api.2  1.0.0  Shutdown</a:t>
            </a:r>
            <a:endParaRPr lang="en-US" sz="870" dirty="0"/>
          </a:p>
        </p:txBody>
      </p:sp>
      <p:sp>
        <p:nvSpPr>
          <p:cNvPr id="62" name="Text 60"/>
          <p:cNvSpPr/>
          <p:nvPr/>
        </p:nvSpPr>
        <p:spPr>
          <a:xfrm>
            <a:off x="6592824" y="4690872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85"/>
                </a:solidFill>
              </a:rPr>
              <a:t>This is the clearest operational proof that the service updated live without fully stopping the API.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555480" y="2615184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674352" y="2560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Scaled up to 4 replicas</a:t>
            </a:r>
            <a:endParaRPr lang="en-US" sz="1030" dirty="0"/>
          </a:p>
        </p:txBody>
      </p:sp>
      <p:sp>
        <p:nvSpPr>
          <p:cNvPr id="65" name="Shape 63"/>
          <p:cNvSpPr/>
          <p:nvPr/>
        </p:nvSpPr>
        <p:spPr>
          <a:xfrm>
            <a:off x="9555480" y="2871216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674352" y="2816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Scaled back down to 2 replicas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9555480" y="3127248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674352" y="3072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5324A"/>
                </a:solidFill>
              </a:rPr>
              <a:t>Service returned to steady state</a:t>
            </a:r>
            <a:endParaRPr lang="en-US" sz="1030" dirty="0"/>
          </a:p>
        </p:txBody>
      </p:sp>
      <p:sp>
        <p:nvSpPr>
          <p:cNvPr id="69" name="Shape 67"/>
          <p:cNvSpPr/>
          <p:nvPr/>
        </p:nvSpPr>
        <p:spPr>
          <a:xfrm>
            <a:off x="9528048" y="3438144"/>
            <a:ext cx="2487168" cy="914400"/>
          </a:xfrm>
          <a:prstGeom prst="roundRect">
            <a:avLst>
              <a:gd name="adj" fmla="val 3000"/>
            </a:avLst>
          </a:prstGeom>
          <a:solidFill>
            <a:srgbClr val="FBFB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619488" y="3511296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realty_api   replicated  4/4  sound-realty-api:1.1.0</a:t>
            </a:r>
            <a:endParaRPr lang="en-US" sz="870" dirty="0"/>
          </a:p>
          <a:p>
            <a:pPr marL="0" indent="0">
              <a:buNone/>
            </a:pP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5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realty_api   replicated  2/2  sound-realty-api:1.1.0</a:t>
            </a:r>
            <a:endParaRPr lang="en-US" sz="870" dirty="0"/>
          </a:p>
        </p:txBody>
      </p:sp>
      <p:sp>
        <p:nvSpPr>
          <p:cNvPr id="71" name="Text 69"/>
          <p:cNvSpPr/>
          <p:nvPr/>
        </p:nvSpPr>
        <p:spPr>
          <a:xfrm>
            <a:off x="9555480" y="457200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85"/>
                </a:solidFill>
              </a:rPr>
              <a:t>The scale logs demonstrate horizontal elasticity and confirm the final post-test steady state at 2 replicas.</a:t>
            </a:r>
            <a:endParaRPr lang="en-US" sz="950" dirty="0"/>
          </a:p>
        </p:txBody>
      </p:sp>
      <p:sp>
        <p:nvSpPr>
          <p:cNvPr id="74" name="Shape 1">
            <a:extLst>
              <a:ext uri="{FF2B5EF4-FFF2-40B4-BE49-F238E27FC236}">
                <a16:creationId xmlns:a16="http://schemas.microsoft.com/office/drawing/2014/main" id="{83AD215E-7A4B-23AE-C557-83F68A9FD9D3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47">
            <a:extLst>
              <a:ext uri="{FF2B5EF4-FFF2-40B4-BE49-F238E27FC236}">
                <a16:creationId xmlns:a16="http://schemas.microsoft.com/office/drawing/2014/main" id="{9F38CA0E-8C26-343E-B73A-F33B32BD85B5}"/>
              </a:ext>
            </a:extLst>
          </p:cNvPr>
          <p:cNvSpPr/>
          <p:nvPr/>
        </p:nvSpPr>
        <p:spPr>
          <a:xfrm>
            <a:off x="658368" y="65562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sp>
        <p:nvSpPr>
          <p:cNvPr id="76" name="Shape 4">
            <a:extLst>
              <a:ext uri="{FF2B5EF4-FFF2-40B4-BE49-F238E27FC236}">
                <a16:creationId xmlns:a16="http://schemas.microsoft.com/office/drawing/2014/main" id="{D4BF18D3-B3DD-F598-3AD9-96592AD2E266}"/>
              </a:ext>
            </a:extLst>
          </p:cNvPr>
          <p:cNvSpPr/>
          <p:nvPr/>
        </p:nvSpPr>
        <p:spPr>
          <a:xfrm>
            <a:off x="9464040" y="594360"/>
            <a:ext cx="187452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A312313D-482D-C9D8-2F38-DA5B7185707E}"/>
              </a:ext>
            </a:extLst>
          </p:cNvPr>
          <p:cNvSpPr/>
          <p:nvPr/>
        </p:nvSpPr>
        <p:spPr>
          <a:xfrm>
            <a:off x="946404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view</a:t>
            </a:r>
            <a:endParaRPr lang="en-US" sz="10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1D057756-7DA1-C4FC-50CF-0469FD8CF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  <p:sp>
        <p:nvSpPr>
          <p:cNvPr id="80" name="Shape 0">
            <a:extLst>
              <a:ext uri="{FF2B5EF4-FFF2-40B4-BE49-F238E27FC236}">
                <a16:creationId xmlns:a16="http://schemas.microsoft.com/office/drawing/2014/main" id="{614A626B-09B0-8B16-3501-177A70B5EBEF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B62A3-FE7F-D64A-E01C-160F4D600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6EF6BF-558C-5BF1-0345-1D15140AE46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D860A2-17FF-411C-D7AF-6EB8854B0348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60C08A-5901-BADA-6B77-6A871A271C72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416BCB18-E33D-04F3-D901-311D52B9EDAD}"/>
              </a:ext>
            </a:extLst>
          </p:cNvPr>
          <p:cNvSpPr/>
          <p:nvPr/>
        </p:nvSpPr>
        <p:spPr>
          <a:xfrm>
            <a:off x="7315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Sound Realty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DF0C6314-EDB3-D62C-0A33-7996835C11B7}"/>
              </a:ext>
            </a:extLst>
          </p:cNvPr>
          <p:cNvSpPr/>
          <p:nvPr/>
        </p:nvSpPr>
        <p:spPr>
          <a:xfrm>
            <a:off x="7863840" y="1005840"/>
            <a:ext cx="3474720" cy="44805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CA72C9A-BB43-9950-2DCD-6675BC5F9A1F}"/>
              </a:ext>
            </a:extLst>
          </p:cNvPr>
          <p:cNvSpPr/>
          <p:nvPr/>
        </p:nvSpPr>
        <p:spPr>
          <a:xfrm>
            <a:off x="8549640" y="278892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1FA01739-FB9D-492D-E303-491B7E16C1CD}"/>
              </a:ext>
            </a:extLst>
          </p:cNvPr>
          <p:cNvSpPr/>
          <p:nvPr/>
        </p:nvSpPr>
        <p:spPr>
          <a:xfrm>
            <a:off x="8805672" y="3621024"/>
            <a:ext cx="502920" cy="822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D004CBC2-C23F-F37F-3F60-C1B61C662AE7}"/>
              </a:ext>
            </a:extLst>
          </p:cNvPr>
          <p:cNvSpPr/>
          <p:nvPr/>
        </p:nvSpPr>
        <p:spPr>
          <a:xfrm>
            <a:off x="9450408" y="3319650"/>
            <a:ext cx="438912" cy="4389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BD0FFCB9-4426-EAC5-BDE0-84C116863957}"/>
              </a:ext>
            </a:extLst>
          </p:cNvPr>
          <p:cNvSpPr/>
          <p:nvPr/>
        </p:nvSpPr>
        <p:spPr>
          <a:xfrm>
            <a:off x="10012764" y="3314700"/>
            <a:ext cx="438912" cy="4389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E910B1B8-61CF-AAB9-468C-6A50EA25667D}"/>
              </a:ext>
            </a:extLst>
          </p:cNvPr>
          <p:cNvSpPr/>
          <p:nvPr/>
        </p:nvSpPr>
        <p:spPr>
          <a:xfrm rot="16200000">
            <a:off x="8824002" y="1161246"/>
            <a:ext cx="1623060" cy="2775288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6">
            <a:extLst>
              <a:ext uri="{FF2B5EF4-FFF2-40B4-BE49-F238E27FC236}">
                <a16:creationId xmlns:a16="http://schemas.microsoft.com/office/drawing/2014/main" id="{7F0367BF-2A83-E5A8-5D97-DE3F57E0AA11}"/>
              </a:ext>
            </a:extLst>
          </p:cNvPr>
          <p:cNvSpPr/>
          <p:nvPr/>
        </p:nvSpPr>
        <p:spPr>
          <a:xfrm>
            <a:off x="597296" y="2984991"/>
            <a:ext cx="4139463" cy="1272065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82CFE0B6-59DC-4D5C-0FB0-998C0F168E03}"/>
              </a:ext>
            </a:extLst>
          </p:cNvPr>
          <p:cNvSpPr/>
          <p:nvPr/>
        </p:nvSpPr>
        <p:spPr>
          <a:xfrm>
            <a:off x="793095" y="3171980"/>
            <a:ext cx="3577401" cy="792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AWS Roadmap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A10CA3-780E-C47C-35AF-3FA8487FD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7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AWS version is better if the POC is approved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closes the gaps that matter once the application becomes operational.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784080" y="594360"/>
            <a:ext cx="1874520" cy="310896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path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926028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926028"/>
            <a:ext cx="2606040" cy="10972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209062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More reliable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2383228"/>
            <a:ext cx="21854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Managed orchestration, health routing, and multi-AZ deployment reduce operational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1926028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11880" y="1926028"/>
            <a:ext cx="2606040" cy="1097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76472" y="209062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More secure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76472" y="2383228"/>
            <a:ext cx="21854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Authentication, secret management, and tighter access control become part of the baseline.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1926028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1926028"/>
            <a:ext cx="260604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11112" y="209062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More observable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2383228"/>
            <a:ext cx="21854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Centralized logging, alarms, and prediction history help teams trust the service over time.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81160" y="1926028"/>
            <a:ext cx="2148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81160" y="1926028"/>
            <a:ext cx="2148840" cy="10972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45752" y="20906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More repeatable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45752" y="2383228"/>
            <a:ext cx="17282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Model releases and app deployments move from manual steps to governed pipelines.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34440" y="4120588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34440" y="4120588"/>
            <a:ext cx="2926080" cy="1097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99032" y="428518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Operational upgrade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99032" y="4577788"/>
            <a:ext cx="250545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The application code stays largely the same; the infrastructure becomes production-ready.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4120588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4120588"/>
            <a:ext cx="2926080" cy="10972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82312" y="428518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Business upgrade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82312" y="4577788"/>
            <a:ext cx="250545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The service becomes easier to support, safer to expose, and easier to expand.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01000" y="4120588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01000" y="4120588"/>
            <a:ext cx="292608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165592" y="428518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Delivery upgrade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65592" y="4577788"/>
            <a:ext cx="250545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Staging, production, and promotion workflows reduce deployment risk.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" y="65562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D968346-000F-A549-A175-98BF2152C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  <p:sp>
        <p:nvSpPr>
          <p:cNvPr id="52" name="Text 50"/>
          <p:cNvSpPr/>
          <p:nvPr/>
        </p:nvSpPr>
        <p:spPr>
          <a:xfrm>
            <a:off x="2926080" y="572414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Big idea: move from local/manual responsibilities to managed/versioned cloud services.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target state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application logic, stronger infrastructure around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29800" y="594360"/>
            <a:ext cx="1874520" cy="310896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2980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path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0482" y="1993727"/>
            <a:ext cx="1874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0482" y="1993727"/>
            <a:ext cx="187452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5074" y="2158319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Clients / apps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5074" y="2450927"/>
            <a:ext cx="145389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Internal tools, future portal, partner apps.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79282" y="231376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826754" y="1993727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26754" y="1993727"/>
            <a:ext cx="1920240" cy="1097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91346" y="2158319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API Gateway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91346" y="2450927"/>
            <a:ext cx="149961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Authentication, rate limiting, managed API layer.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8706" y="2313767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112754" y="1993727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12754" y="1993727"/>
            <a:ext cx="1828800" cy="10972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77346" y="2158319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ALB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77346" y="2450927"/>
            <a:ext cx="140817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Traffic routing and health-aware load balancing.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14122" y="231376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43890" y="1993727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43890" y="1993727"/>
            <a:ext cx="224028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08482" y="2158319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ECS Fargate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08482" y="2450927"/>
            <a:ext cx="18196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Runs the FastAPI container across AZs.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556738" y="2313767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977362" y="1993727"/>
            <a:ext cx="1554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977362" y="1993727"/>
            <a:ext cx="1554480" cy="10972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41954" y="2158319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CloudWatch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41954" y="2450927"/>
            <a:ext cx="11338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Logs, metrics, alarms.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61962" y="4279727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61962" y="4279727"/>
            <a:ext cx="1828800" cy="1097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26554" y="4444319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Amazon ECR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26554" y="4736927"/>
            <a:ext cx="140817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Versioned container images.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65082" y="4279727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165082" y="4279727"/>
            <a:ext cx="1828800" cy="10972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29674" y="4444319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Amazon S3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329674" y="4736927"/>
            <a:ext cx="140817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Model artifacts stored outside the image.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68202" y="4279727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68202" y="4279727"/>
            <a:ext cx="192024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13922" y="4444319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SSM Parameter Store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32794" y="4736927"/>
            <a:ext cx="149961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Controls the active model version.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462762" y="4279727"/>
            <a:ext cx="1874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462762" y="4279727"/>
            <a:ext cx="1874520" cy="10972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27354" y="4444319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DynamoDB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27354" y="4736927"/>
            <a:ext cx="145389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Prediction logging and audit trail.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611602" y="4279727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611602" y="4279727"/>
            <a:ext cx="1828800" cy="1097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755012" y="4467179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CodePipeline + CodeBuild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773300" y="4848333"/>
            <a:ext cx="140817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Automated app and model release flow.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58368" y="65562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F27393D-9B39-C3F4-7993-A70D8F4A0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E8D09-6C63-2D1A-2DD6-33247086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15C5D9-1BBE-315D-DFD3-DA632F049A9B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0E9C2F-5670-BDB9-794C-43038CBD09EB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3B5E3B-05D8-1055-4E66-BE71219E15AE}"/>
              </a:ext>
            </a:extLst>
          </p:cNvPr>
          <p:cNvSpPr/>
          <p:nvPr/>
        </p:nvSpPr>
        <p:spPr>
          <a:xfrm>
            <a:off x="303900" y="4174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vs AWS Comparison</a:t>
            </a:r>
            <a:endParaRPr lang="en-US" sz="2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7254208-5552-9B21-4F62-3B8B6BE09584}"/>
              </a:ext>
            </a:extLst>
          </p:cNvPr>
          <p:cNvSpPr/>
          <p:nvPr/>
        </p:nvSpPr>
        <p:spPr>
          <a:xfrm>
            <a:off x="658368" y="65562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7DB6CA0-1593-E370-CB8C-6AEBEFDC2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8B1920E-7224-00CB-BF8E-C4A6C3394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930722"/>
              </p:ext>
            </p:extLst>
          </p:nvPr>
        </p:nvGraphicFramePr>
        <p:xfrm>
          <a:off x="822121" y="1444250"/>
          <a:ext cx="10544962" cy="4710590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1871258">
                  <a:extLst>
                    <a:ext uri="{9D8B030D-6E8A-4147-A177-3AD203B41FA5}">
                      <a16:colId xmlns:a16="http://schemas.microsoft.com/office/drawing/2014/main" val="696823962"/>
                    </a:ext>
                  </a:extLst>
                </a:gridCol>
                <a:gridCol w="2860447">
                  <a:extLst>
                    <a:ext uri="{9D8B030D-6E8A-4147-A177-3AD203B41FA5}">
                      <a16:colId xmlns:a16="http://schemas.microsoft.com/office/drawing/2014/main" val="1001349456"/>
                    </a:ext>
                  </a:extLst>
                </a:gridCol>
                <a:gridCol w="2253202">
                  <a:extLst>
                    <a:ext uri="{9D8B030D-6E8A-4147-A177-3AD203B41FA5}">
                      <a16:colId xmlns:a16="http://schemas.microsoft.com/office/drawing/2014/main" val="2017156558"/>
                    </a:ext>
                  </a:extLst>
                </a:gridCol>
                <a:gridCol w="3560055">
                  <a:extLst>
                    <a:ext uri="{9D8B030D-6E8A-4147-A177-3AD203B41FA5}">
                      <a16:colId xmlns:a16="http://schemas.microsoft.com/office/drawing/2014/main" val="1460750827"/>
                    </a:ext>
                  </a:extLst>
                </a:gridCol>
              </a:tblGrid>
              <a:tr h="24577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</a:rPr>
                        <a:t>Component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50421" marB="50421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</a:rPr>
                        <a:t>Current Setup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50421" marB="50421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</a:rPr>
                        <a:t>AWS Service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50421" marB="50421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</a:rPr>
                        <a:t>Gap Closed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50421" marB="50421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193229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  <a:effectLst/>
                        </a:rPr>
                        <a:t>Container registry</a:t>
                      </a:r>
                      <a:endParaRPr lang="en-US" sz="1200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Local Docker images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Amazon ECR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Versioned image storage, team access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1536496153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  <a:effectLst/>
                        </a:rPr>
                        <a:t>Container runtime</a:t>
                      </a:r>
                      <a:endParaRPr lang="en-US" sz="1200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Docker Swarm (manual replicas)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ECS Fargate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Auto-scaling, managed orchestration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4130263719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chemeClr val="accent2"/>
                          </a:solidFill>
                          <a:effectLst/>
                        </a:rPr>
                        <a:t>Load balancing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Swarm routing mesh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Application Load Balancer (ALB)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Distribute HTTP traffic across Multi-AZ, health routing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791903757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chemeClr val="accent2"/>
                          </a:solidFill>
                          <a:effectLst/>
                        </a:rPr>
                        <a:t>Authentication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None – no authentication (JWT, Token, </a:t>
                      </a:r>
                      <a:r>
                        <a:rPr lang="en-US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etc</a:t>
                      </a: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)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Amazon API Gateway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API key auth, rate limiting, WAF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303599690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  <a:effectLst/>
                        </a:rPr>
                        <a:t>Model storage</a:t>
                      </a:r>
                      <a:endParaRPr lang="en-US" sz="1200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Local model/ directory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Amazon S3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Versioned artifacts, decoupled from image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1942975750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chemeClr val="accent2"/>
                          </a:solidFill>
                          <a:effectLst/>
                        </a:rPr>
                        <a:t>Model version control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Parameter into Docker image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SSM Parameter Store + S3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(Trigger) Change model without rebuilding image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1664666983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chemeClr val="accent2"/>
                          </a:solidFill>
                          <a:effectLst/>
                        </a:rPr>
                        <a:t>Prediction logging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None – no prediction logging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Amazon DynamoDB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Single-digit-millisecond reads and writes , Audit trail, real outcome drift monitoring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3934150364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chemeClr val="accent2"/>
                          </a:solidFill>
                          <a:effectLst/>
                        </a:rPr>
                        <a:t>Experiment tracking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MLflow (local)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SageMaker Experiments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Shared team access, managed, no infra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4278203853"/>
                  </a:ext>
                </a:extLst>
              </a:tr>
              <a:tr h="21987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chemeClr val="accent2"/>
                          </a:solidFill>
                          <a:effectLst/>
                        </a:rPr>
                        <a:t>High availability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 replicas, same host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Multi-AZ ECS placement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Survive AZ failure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4097075730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chemeClr val="accent2"/>
                          </a:solidFill>
                          <a:effectLst/>
                        </a:rPr>
                        <a:t>Monitoring / alerts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Manual log inspection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CloudWatch + SNS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Automated alerts, drift detection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1296275589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  <a:effectLst/>
                        </a:rPr>
                        <a:t>CI/CD</a:t>
                      </a:r>
                      <a:endParaRPr lang="en-US" sz="1200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Manual docker build + push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CodePipeline + CodeBuild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Automated deploy, all execution in AWS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1016457730"/>
                  </a:ext>
                </a:extLst>
              </a:tr>
              <a:tr h="21987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chemeClr val="accent2"/>
                          </a:solidFill>
                          <a:effectLst/>
                        </a:rPr>
                        <a:t>Environments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Single (local)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Staging + Production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Safe pre-production validation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1475933174"/>
                  </a:ext>
                </a:extLst>
              </a:tr>
              <a:tr h="21987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  <a:effectLst/>
                        </a:rPr>
                        <a:t>Secrets</a:t>
                      </a:r>
                      <a:endParaRPr lang="en-US" sz="1200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Environment variables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AWS Secrets Manager</a:t>
                      </a:r>
                      <a:endParaRPr lang="en-US" sz="12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Encrypted, audited, rotatable</a:t>
                      </a:r>
                      <a:endPara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5632" marR="75632" marT="37816" marB="37816"/>
                </a:tc>
                <a:extLst>
                  <a:ext uri="{0D108BD9-81ED-4DB2-BD59-A6C34878D82A}">
                    <a16:rowId xmlns:a16="http://schemas.microsoft.com/office/drawing/2014/main" val="2281536861"/>
                  </a:ext>
                </a:extLst>
              </a:tr>
            </a:tbl>
          </a:graphicData>
        </a:graphic>
      </p:graphicFrame>
      <p:sp>
        <p:nvSpPr>
          <p:cNvPr id="11" name="Shape 4">
            <a:extLst>
              <a:ext uri="{FF2B5EF4-FFF2-40B4-BE49-F238E27FC236}">
                <a16:creationId xmlns:a16="http://schemas.microsoft.com/office/drawing/2014/main" id="{767B5727-9EC4-3346-0594-386197392369}"/>
              </a:ext>
            </a:extLst>
          </p:cNvPr>
          <p:cNvSpPr/>
          <p:nvPr/>
        </p:nvSpPr>
        <p:spPr>
          <a:xfrm>
            <a:off x="9829800" y="594360"/>
            <a:ext cx="1874520" cy="310896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D6A9763-E41F-6CDC-5EC7-0956CD883572}"/>
              </a:ext>
            </a:extLst>
          </p:cNvPr>
          <p:cNvSpPr/>
          <p:nvPr/>
        </p:nvSpPr>
        <p:spPr>
          <a:xfrm>
            <a:off x="982980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path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81669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1CC85-1B47-9AE8-0969-EFBF80C2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07B249-D5E3-A876-ADE7-68B1DA8C1D91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60AE95-0DAC-D29F-5890-DA2D003E4AA9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06296F-BEE5-3774-C81B-CA7834AA0367}"/>
              </a:ext>
            </a:extLst>
          </p:cNvPr>
          <p:cNvSpPr/>
          <p:nvPr/>
        </p:nvSpPr>
        <p:spPr>
          <a:xfrm>
            <a:off x="64008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AWS rollout in phases + Expected Costs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DD8EAE-2F70-71B0-2F4A-58EF2B599280}"/>
              </a:ext>
            </a:extLst>
          </p:cNvPr>
          <p:cNvSpPr/>
          <p:nvPr/>
        </p:nvSpPr>
        <p:spPr>
          <a:xfrm>
            <a:off x="640080" y="9601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path pragmatic: harden what matters first.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EEBDE50-617F-1DF0-8DA7-E99BE167053A}"/>
              </a:ext>
            </a:extLst>
          </p:cNvPr>
          <p:cNvSpPr/>
          <p:nvPr/>
        </p:nvSpPr>
        <p:spPr>
          <a:xfrm>
            <a:off x="658368" y="1261872"/>
            <a:ext cx="1508760" cy="18892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4B5B777-9C2C-2BFE-2E5E-6E46B2FD3A41}"/>
              </a:ext>
            </a:extLst>
          </p:cNvPr>
          <p:cNvSpPr/>
          <p:nvPr/>
        </p:nvSpPr>
        <p:spPr>
          <a:xfrm>
            <a:off x="1188720" y="1490472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CAD45F-EA31-4D2B-1754-2BC7B29FED47}"/>
              </a:ext>
            </a:extLst>
          </p:cNvPr>
          <p:cNvSpPr/>
          <p:nvPr/>
        </p:nvSpPr>
        <p:spPr>
          <a:xfrm>
            <a:off x="1188720" y="163677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3F8282-9850-D10C-EE69-946514BD8318}"/>
              </a:ext>
            </a:extLst>
          </p:cNvPr>
          <p:cNvSpPr/>
          <p:nvPr/>
        </p:nvSpPr>
        <p:spPr>
          <a:xfrm>
            <a:off x="768096" y="21762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Foundation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49340D2-5924-5320-8B2E-8EC06FD62704}"/>
              </a:ext>
            </a:extLst>
          </p:cNvPr>
          <p:cNvSpPr/>
          <p:nvPr/>
        </p:nvSpPr>
        <p:spPr>
          <a:xfrm>
            <a:off x="768096" y="2505456"/>
            <a:ext cx="12893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ECR, ECS Fargate, ALB, S3, SSM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EDB490-AACB-AADC-9EA5-D5C89DE3A35B}"/>
              </a:ext>
            </a:extLst>
          </p:cNvPr>
          <p:cNvSpPr/>
          <p:nvPr/>
        </p:nvSpPr>
        <p:spPr>
          <a:xfrm>
            <a:off x="2267712" y="21305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8C90787-488A-AB7D-24BD-C4B905FD05D5}"/>
              </a:ext>
            </a:extLst>
          </p:cNvPr>
          <p:cNvSpPr/>
          <p:nvPr/>
        </p:nvSpPr>
        <p:spPr>
          <a:xfrm>
            <a:off x="2596896" y="1261872"/>
            <a:ext cx="1508760" cy="18892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093F25A-C683-C588-44F9-946EA3FC1652}"/>
              </a:ext>
            </a:extLst>
          </p:cNvPr>
          <p:cNvSpPr/>
          <p:nvPr/>
        </p:nvSpPr>
        <p:spPr>
          <a:xfrm>
            <a:off x="3127248" y="1490472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4D8DBB5-D84E-D411-214E-6EBCD26B1125}"/>
              </a:ext>
            </a:extLst>
          </p:cNvPr>
          <p:cNvSpPr/>
          <p:nvPr/>
        </p:nvSpPr>
        <p:spPr>
          <a:xfrm>
            <a:off x="3127248" y="163677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872035D-AF76-6C0D-DED3-ED927AFA4D5F}"/>
              </a:ext>
            </a:extLst>
          </p:cNvPr>
          <p:cNvSpPr/>
          <p:nvPr/>
        </p:nvSpPr>
        <p:spPr>
          <a:xfrm>
            <a:off x="2706624" y="21762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Security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1F30103-0BB1-1798-FC35-3AFCBBE5FFF5}"/>
              </a:ext>
            </a:extLst>
          </p:cNvPr>
          <p:cNvSpPr/>
          <p:nvPr/>
        </p:nvSpPr>
        <p:spPr>
          <a:xfrm>
            <a:off x="2706624" y="2505456"/>
            <a:ext cx="12893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API Gateway, Secrets Manager, tighter networking</a:t>
            </a:r>
            <a:endParaRPr lang="en-US" sz="9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27A152D-2CC2-6C96-ABA9-B9D04CF3E117}"/>
              </a:ext>
            </a:extLst>
          </p:cNvPr>
          <p:cNvSpPr/>
          <p:nvPr/>
        </p:nvSpPr>
        <p:spPr>
          <a:xfrm>
            <a:off x="4206240" y="21305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AC4426D-A06A-CCD9-507E-7432ECAE81C5}"/>
              </a:ext>
            </a:extLst>
          </p:cNvPr>
          <p:cNvSpPr/>
          <p:nvPr/>
        </p:nvSpPr>
        <p:spPr>
          <a:xfrm>
            <a:off x="4535424" y="1261872"/>
            <a:ext cx="1508760" cy="18892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8FAEE1C-E50B-A3E1-6083-CA41906B489D}"/>
              </a:ext>
            </a:extLst>
          </p:cNvPr>
          <p:cNvSpPr/>
          <p:nvPr/>
        </p:nvSpPr>
        <p:spPr>
          <a:xfrm>
            <a:off x="5065776" y="1490472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B583A38-001D-928C-51DB-B775C3FA5DFE}"/>
              </a:ext>
            </a:extLst>
          </p:cNvPr>
          <p:cNvSpPr/>
          <p:nvPr/>
        </p:nvSpPr>
        <p:spPr>
          <a:xfrm>
            <a:off x="5065776" y="163677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DC87D2B-B2C0-BC1B-BE78-556CA83A47FD}"/>
              </a:ext>
            </a:extLst>
          </p:cNvPr>
          <p:cNvSpPr/>
          <p:nvPr/>
        </p:nvSpPr>
        <p:spPr>
          <a:xfrm>
            <a:off x="4645152" y="21762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Logging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1D548B8-D163-99FA-DEC4-63A496308654}"/>
              </a:ext>
            </a:extLst>
          </p:cNvPr>
          <p:cNvSpPr/>
          <p:nvPr/>
        </p:nvSpPr>
        <p:spPr>
          <a:xfrm>
            <a:off x="4645152" y="2505456"/>
            <a:ext cx="12893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DynamoDB audit trail for predictions</a:t>
            </a:r>
            <a:endParaRPr lang="en-US" sz="9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4AB3598-8287-5FF8-B04E-4C4CF80C8984}"/>
              </a:ext>
            </a:extLst>
          </p:cNvPr>
          <p:cNvSpPr/>
          <p:nvPr/>
        </p:nvSpPr>
        <p:spPr>
          <a:xfrm>
            <a:off x="6144768" y="21305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BDDFEAE-8888-54E0-E827-86E74164A054}"/>
              </a:ext>
            </a:extLst>
          </p:cNvPr>
          <p:cNvSpPr/>
          <p:nvPr/>
        </p:nvSpPr>
        <p:spPr>
          <a:xfrm>
            <a:off x="6473952" y="1261872"/>
            <a:ext cx="1508760" cy="18892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4751EF0-1DEC-B396-CB08-B9802A187E4F}"/>
              </a:ext>
            </a:extLst>
          </p:cNvPr>
          <p:cNvSpPr/>
          <p:nvPr/>
        </p:nvSpPr>
        <p:spPr>
          <a:xfrm>
            <a:off x="7004304" y="1490472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8BCB7A8-5AD6-F48F-86D6-E5718DB70E5D}"/>
              </a:ext>
            </a:extLst>
          </p:cNvPr>
          <p:cNvSpPr/>
          <p:nvPr/>
        </p:nvSpPr>
        <p:spPr>
          <a:xfrm>
            <a:off x="7004304" y="163677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F6395DE-AE89-5CF7-765A-E6336694F4B3}"/>
              </a:ext>
            </a:extLst>
          </p:cNvPr>
          <p:cNvSpPr/>
          <p:nvPr/>
        </p:nvSpPr>
        <p:spPr>
          <a:xfrm>
            <a:off x="6583680" y="21762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C88409C-CFD2-E2C1-D7B9-EF2F8F83FE47}"/>
              </a:ext>
            </a:extLst>
          </p:cNvPr>
          <p:cNvSpPr/>
          <p:nvPr/>
        </p:nvSpPr>
        <p:spPr>
          <a:xfrm>
            <a:off x="6583680" y="2505456"/>
            <a:ext cx="12893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CloudWatch metrics, alarms, SNS notifications</a:t>
            </a:r>
            <a:endParaRPr lang="en-US" sz="9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CD37A09-B7EE-A1FE-87D9-3AB139A8E4C2}"/>
              </a:ext>
            </a:extLst>
          </p:cNvPr>
          <p:cNvSpPr/>
          <p:nvPr/>
        </p:nvSpPr>
        <p:spPr>
          <a:xfrm>
            <a:off x="8083296" y="21305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E54D5FE-6C60-B73A-6E4B-77202F166EB4}"/>
              </a:ext>
            </a:extLst>
          </p:cNvPr>
          <p:cNvSpPr/>
          <p:nvPr/>
        </p:nvSpPr>
        <p:spPr>
          <a:xfrm>
            <a:off x="8412480" y="1261872"/>
            <a:ext cx="1508760" cy="18892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FCBBE32-F8B9-EE9D-0EF6-25138CFECEC0}"/>
              </a:ext>
            </a:extLst>
          </p:cNvPr>
          <p:cNvSpPr/>
          <p:nvPr/>
        </p:nvSpPr>
        <p:spPr>
          <a:xfrm>
            <a:off x="8942832" y="1490472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8987CB6-B53B-9594-D346-F1BDD3C450D6}"/>
              </a:ext>
            </a:extLst>
          </p:cNvPr>
          <p:cNvSpPr/>
          <p:nvPr/>
        </p:nvSpPr>
        <p:spPr>
          <a:xfrm>
            <a:off x="8942832" y="163677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29AD824-7DB8-DCA0-3C7F-E8C8C5BF566E}"/>
              </a:ext>
            </a:extLst>
          </p:cNvPr>
          <p:cNvSpPr/>
          <p:nvPr/>
        </p:nvSpPr>
        <p:spPr>
          <a:xfrm>
            <a:off x="8522208" y="21762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CI/CD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7CD8BE5-ADBB-C80F-B7D2-1B2CCF19F9C1}"/>
              </a:ext>
            </a:extLst>
          </p:cNvPr>
          <p:cNvSpPr/>
          <p:nvPr/>
        </p:nvSpPr>
        <p:spPr>
          <a:xfrm>
            <a:off x="8522208" y="2505456"/>
            <a:ext cx="12893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Automated build, deploy, and model promotion flow</a:t>
            </a:r>
            <a:endParaRPr lang="en-US" sz="9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CC96D40-8FBC-0A2C-F557-8D1C468865CD}"/>
              </a:ext>
            </a:extLst>
          </p:cNvPr>
          <p:cNvSpPr/>
          <p:nvPr/>
        </p:nvSpPr>
        <p:spPr>
          <a:xfrm>
            <a:off x="10021824" y="21305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D91A298-FC21-9C50-E2FF-A1C1F1467981}"/>
              </a:ext>
            </a:extLst>
          </p:cNvPr>
          <p:cNvSpPr/>
          <p:nvPr/>
        </p:nvSpPr>
        <p:spPr>
          <a:xfrm>
            <a:off x="10351008" y="1261872"/>
            <a:ext cx="15087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3B1404F-3E4A-6251-DD5A-244E38444607}"/>
              </a:ext>
            </a:extLst>
          </p:cNvPr>
          <p:cNvSpPr/>
          <p:nvPr/>
        </p:nvSpPr>
        <p:spPr>
          <a:xfrm>
            <a:off x="10881360" y="1490472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39D0642-7792-031E-92E1-1EDF47A7E1A8}"/>
              </a:ext>
            </a:extLst>
          </p:cNvPr>
          <p:cNvSpPr/>
          <p:nvPr/>
        </p:nvSpPr>
        <p:spPr>
          <a:xfrm>
            <a:off x="10881360" y="163677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2256646-3B4C-1184-2CD5-B0068DB6928D}"/>
              </a:ext>
            </a:extLst>
          </p:cNvPr>
          <p:cNvSpPr/>
          <p:nvPr/>
        </p:nvSpPr>
        <p:spPr>
          <a:xfrm>
            <a:off x="10460736" y="21762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Lineage</a:t>
            </a:r>
            <a:endParaRPr lang="en-US" sz="12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357BDA6-BB84-B24F-FD45-28A2EB9232A9}"/>
              </a:ext>
            </a:extLst>
          </p:cNvPr>
          <p:cNvSpPr/>
          <p:nvPr/>
        </p:nvSpPr>
        <p:spPr>
          <a:xfrm>
            <a:off x="10460736" y="2505456"/>
            <a:ext cx="12893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SageMaker Experiments for shared run tracking</a:t>
            </a:r>
            <a:endParaRPr lang="en-US" sz="9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CC6CEE7-8BB1-F723-0E55-FE80405E4D42}"/>
              </a:ext>
            </a:extLst>
          </p:cNvPr>
          <p:cNvSpPr/>
          <p:nvPr/>
        </p:nvSpPr>
        <p:spPr>
          <a:xfrm>
            <a:off x="658368" y="65562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1168A7F-8345-A1B0-7FD8-D9773BF1C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  <p:sp>
        <p:nvSpPr>
          <p:cNvPr id="46" name="Shape 4">
            <a:extLst>
              <a:ext uri="{FF2B5EF4-FFF2-40B4-BE49-F238E27FC236}">
                <a16:creationId xmlns:a16="http://schemas.microsoft.com/office/drawing/2014/main" id="{C10525CC-081C-73F9-3AE9-C1B45445FCE4}"/>
              </a:ext>
            </a:extLst>
          </p:cNvPr>
          <p:cNvSpPr/>
          <p:nvPr/>
        </p:nvSpPr>
        <p:spPr>
          <a:xfrm>
            <a:off x="9829800" y="594360"/>
            <a:ext cx="1874520" cy="310896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49131444-28CC-D801-183E-DE22ABE8354B}"/>
              </a:ext>
            </a:extLst>
          </p:cNvPr>
          <p:cNvSpPr/>
          <p:nvPr/>
        </p:nvSpPr>
        <p:spPr>
          <a:xfrm>
            <a:off x="982980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path</a:t>
            </a:r>
            <a:endParaRPr lang="en-US" sz="1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21137E-80B8-A403-A5D5-8334F6FD5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868438"/>
              </p:ext>
            </p:extLst>
          </p:nvPr>
        </p:nvGraphicFramePr>
        <p:xfrm>
          <a:off x="6144768" y="3276945"/>
          <a:ext cx="5712451" cy="3195320"/>
        </p:xfrm>
        <a:graphic>
          <a:graphicData uri="http://schemas.openxmlformats.org/drawingml/2006/table">
            <a:tbl>
              <a:tblPr firstRow="1" firstCol="1" bandRow="1"/>
              <a:tblGrid>
                <a:gridCol w="1506538">
                  <a:extLst>
                    <a:ext uri="{9D8B030D-6E8A-4147-A177-3AD203B41FA5}">
                      <a16:colId xmlns:a16="http://schemas.microsoft.com/office/drawing/2014/main" val="486728988"/>
                    </a:ext>
                  </a:extLst>
                </a:gridCol>
                <a:gridCol w="1858963">
                  <a:extLst>
                    <a:ext uri="{9D8B030D-6E8A-4147-A177-3AD203B41FA5}">
                      <a16:colId xmlns:a16="http://schemas.microsoft.com/office/drawing/2014/main" val="968571102"/>
                    </a:ext>
                  </a:extLst>
                </a:gridCol>
                <a:gridCol w="2346950">
                  <a:extLst>
                    <a:ext uri="{9D8B030D-6E8A-4147-A177-3AD203B41FA5}">
                      <a16:colId xmlns:a16="http://schemas.microsoft.com/office/drawing/2014/main" val="2408941451"/>
                    </a:ext>
                  </a:extLst>
                </a:gridCol>
              </a:tblGrid>
              <a:tr h="21747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Service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Configuration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Est. Cost / Month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689375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ECS Fargate (Production)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 tasks, 0.5 vCPU, 1 GB RAM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~$36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3830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ECS Fargate (Staging)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 task, 0.25 vCPU, 0.5 GB RAM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~$10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221330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Application Load Balancer x2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 prod + 1 staging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~$36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652760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Amazon ECR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~1 GB image storage, a few versions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~$2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475352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Amazon S3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Model artifacts + training data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~$2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778905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API Gateway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~100k requests/month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~$3*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434602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Amazon DynamoDB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On-demand, ~10k predictions/month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~$2*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825491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CloudWatch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Logs ingestion + metrics + alarms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~$8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16089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SSM Parameter Store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Standard parameters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Free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20804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SageMaker Experiments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Metadata only, no training compute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~$1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034230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NAT Gateway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 gateway, low data transfer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~$35*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82065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SNS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Email/Slack notifications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~$1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911990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CloudTrail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 trail, management events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~$2*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372984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CodePipeline + CodeBuild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 pipelines, ~10 builds/month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~$2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681720"/>
                  </a:ext>
                </a:extLst>
              </a:tr>
              <a:tr h="1927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TOTAL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~$140/month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12574"/>
                  </a:ext>
                </a:extLst>
              </a:tr>
            </a:tbl>
          </a:graphicData>
        </a:graphic>
      </p:graphicFrame>
      <p:sp>
        <p:nvSpPr>
          <p:cNvPr id="7" name="Text 41">
            <a:extLst>
              <a:ext uri="{FF2B5EF4-FFF2-40B4-BE49-F238E27FC236}">
                <a16:creationId xmlns:a16="http://schemas.microsoft.com/office/drawing/2014/main" id="{89742553-6309-5C23-3FB4-D1FCE4BD67E4}"/>
              </a:ext>
            </a:extLst>
          </p:cNvPr>
          <p:cNvSpPr/>
          <p:nvPr/>
        </p:nvSpPr>
        <p:spPr>
          <a:xfrm>
            <a:off x="749808" y="5413248"/>
            <a:ext cx="400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07ECFF-78A8-A9A8-DC47-C32FE5B8191D}"/>
              </a:ext>
            </a:extLst>
          </p:cNvPr>
          <p:cNvSpPr txBox="1"/>
          <p:nvPr/>
        </p:nvSpPr>
        <p:spPr>
          <a:xfrm>
            <a:off x="1123873" y="3635956"/>
            <a:ext cx="4006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Result: a gradual transition from “working POC” to “operated product.”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93156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for Potential Clients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POC to prove value. Use AWS to operationalize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012680" y="594360"/>
            <a:ext cx="1874520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12680" y="6309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104241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Today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377440"/>
            <a:ext cx="4297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We have a usable proof of concept: improved model, prediction API, backend enrichment, basic monitoring, and a credible demo story.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Next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3977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If approved, the AWS version turns the same application into a secure, scalable, monitored, production-ready valuation service.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950208"/>
            <a:ext cx="9144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What we have today is enough to prove the business value. </a:t>
            </a:r>
          </a:p>
          <a:p>
            <a:pPr marL="0" indent="0" algn="ctr">
              <a:buNone/>
            </a:pPr>
            <a:endParaRPr lang="en-US" sz="2000" b="1" dirty="0">
              <a:solidFill>
                <a:srgbClr val="0F172A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What AWS gives us next is the confidence to operate it as a real product.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" y="65562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Sound Realty | phData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3D6A76-0CE1-3CA4-9922-9BE28C7EC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991" y="6366656"/>
            <a:ext cx="1465138" cy="5860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2934</Words>
  <Application>Microsoft Office PowerPoint</Application>
  <PresentationFormat>Widescreen</PresentationFormat>
  <Paragraphs>498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 Realty — POC, Technical Design, and AWS Roadmap</dc:title>
  <dc:subject>Sound Realty presentation deck</dc:subject>
  <dc:creator>OpenAI</dc:creator>
  <cp:lastModifiedBy>Francisco, Denilson</cp:lastModifiedBy>
  <cp:revision>331</cp:revision>
  <dcterms:created xsi:type="dcterms:W3CDTF">2026-04-04T20:08:59Z</dcterms:created>
  <dcterms:modified xsi:type="dcterms:W3CDTF">2026-04-08T17:18:15Z</dcterms:modified>
</cp:coreProperties>
</file>